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e66f961-4990-899a-00d3-4b3ad3a7e472}">
          <p14:sldIdLst>
            <p14:sldId id="256"/>
          </p14:sldIdLst>
        </p14:section>
        <p14:section name="Architecture" id="{5da9c2bc-1e04-8d71-6e70-34a5e26e9cc7}">
          <p14:sldIdLst>
            <p14:sldId id="257"/>
            <p14:sldId id="258"/>
          </p14:sldIdLst>
        </p14:section>
        <p14:section name="Setup phase" id="{5efb65ff-6fb4-a346-d8fe-7cfc157ef460}">
          <p14:sldIdLst>
            <p14:sldId id="259"/>
            <p14:sldId id="260"/>
            <p14:sldId id="261"/>
          </p14:sldIdLst>
        </p14:section>
        <p14:section name="Server" id="{5015f34f-04ac-daae-366d-100ad528cf11}">
          <p14:sldIdLst>
            <p14:sldId id="262"/>
            <p14:sldId id="263"/>
          </p14:sldIdLst>
        </p14:section>
        <p14:section name="Operation phase" id="{8b763bda-a601-627c-f525-07101ae39ad6}">
          <p14:sldIdLst>
            <p14:sldId id="264"/>
            <p14:sldId id="265"/>
            <p14:sldId id="266"/>
          </p14:sldIdLst>
        </p14:section>
        <p14:section name="Clients" id="{e3277e01-d858-54b5-b227-4f1d024bfe81}">
          <p14:sldIdLst>
            <p14:sldId id="267"/>
            <p14:sldId id="268"/>
          </p14:sldIdLst>
        </p14:section>
        <p14:section name="Demo" id="{e5e28bd5-b198-090e-4a6f-80145c6dcb1e}">
          <p14:sldIdLst>
            <p14:sldId id="269"/>
          </p14:sldIdLst>
        </p14:section>
        <p14:section name="Questions" id="{c160594a-af4e-5a7b-7f08-3b93f11970a3}">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RFMP is a mini SSH-like protocol: a client manages files and folders on a remote server. Each member owns one part, but everyone can explain all of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client and the C client both connect to the same Python server on TCP port 5050. The server starts a new thread for every client and keeps a separate session for each. Files live in server_storage. packets.py and crypto_utils.py are shared helper modules used by the Python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packets.py puts a 4-byte length in front of every packet, so the receiver knows exactly where one packet ends. recv_exact loops until all bytes arrive. Variable fields are Base64-encoded so a comma in a filename cannot break the packet. Base64 is encoding, not encryption. These are the 8 packet types from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handle_client reads the first packet. It must be SS with RFMP and v1.0. Flag 0: the server replies (CC) and we are ready. Flag 1: secured_setup runs. The server makes an RSA key pair and sends its public key in CC. The client encrypts its session key with that public key and sends EC. The server decrypts it with its private key and replies SETUP_COMPLETE.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hybrid encryption, the same idea HTTPS and SSH use. RSA is slow and can only encrypt small data, so it is used once to send the session key safely. Anyone sniffing the network sees only the RSA-encrypted key, and only the server's private key can unlock it. From then on, AES or Caesar encrypts the file contents with the shared session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values captured from our test. In NONE mode anyone can decode the Base64 and read the file. Caesar shifts each letter by the key, here 4, so H becomes L. AES output is random-looking bytes; a fresh 12-byte nonce means the same file encrypts differently every time, and the 16-byte tag lets the receiver detect any change. Only the DP file data is encrypted, as the assignment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loop follows the lecture: socket, bind, listen, accept. accept returns a new socket for that one client, and we start a thread running handle_client for it, so many clients work at the same time. Each call of handle_client creates its own session dictionary, so client A's folder and key never mix with client B's. That is also why cd changes session current_directory instead of calling os.chdir, which is shared by all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handle_client runs the whole life of one client. First the setup phase. Then a while True loop receives one packet at a time and dispatches on the packet type and command type. End sends SC BYE and breaks. Anything unexpected gets EE 1. A badly formed packet raises ProtocolError and gets EE 1. If the client disconnects we catch EOFError. finally always closes the socket, so one broken client never stops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sends the full command text in one CM packet. handle_prompt decodes it and splits it on spaces. run_command is one if/elif per command. mkdir, cd, rmdir or rd, del and ren are required; ls, pwd, whoami, hostname and date are our five extra. whoami and hostname use subprocess.run, which the assignment suggests, because it returns the output we send back in SC. os.system only returns an exit code. A wrong command or argument count raises ValueError, giving EE 3; a file system error raises OSError, giving EE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openRead: the server opens the file in read binary mode, encrypts it with this client's session key, sends it in a DP packet, then SC READ_COMPLETE. If the file is missing, only EE 2 is sent. openWrite: the server first creates the file in write mode and replies READY. The user types the text, the client encrypts it and sends it in DP, the server decrypts it, writes it into the file and replies SAVED. Bad AES data gives EE 4. In NONE mode encrypt_payload and decrypt_payload return the data unchanged, so the same code serves all three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allows at most 4 error codes, and we use exactly 4. Every reply in the Python client goes through get_reply, which checks for EE and prints the code and description. The C client has the same check in is_error. An error ends that command only, not the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asks for the server IP and the mode. In AES or CAESAR mode it prepares the three keys the assignment lists: the session key and its own RSA public and private keys. It encrypts the session key with the server's public key and sends EC, then waits for SETUP_COMPLETE. The menu has four options. Uploads are encrypted before sending; downloads are decrypted after receiving and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 client is unsecured and sends only openRead, as the assignment requires. It proves the protocol works across languages. It makes the 4-byte length with htonl, which puts it in big-endian network order like Python's struct.pack('!I'), and reads it back with ntohl. Loops make sure all bytes are sent and received. The 16-byte server address is filled through pointers instead of a struct: family, port in network order via htons, then the IP from inet_pton. Its own Base64 functions use bit shifts to turn 3 bytes into 4 characters.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in this order so every graded feature is shown. Compile the C client before starting. If the server says address already in use after a restart, wait about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RSA is used once to share the session key, AES or Caesar protects every file, the server gives each client its own thread and session, and the same packet format works from Python and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10698480" cy="20116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429000"/>
            <a:ext cx="10698480" cy="914400"/>
          </a:xfrm>
          <a:prstGeom prst="rect">
            <a:avLst/>
          </a:prstGeom>
          <a:noFill/>
          <a:ln/>
        </p:spPr>
        <p:txBody>
          <a:bodyPr wrap="square" rtlCol="0"/>
          <a:lstStyle>
            <a:lvl1pPr algn="l" indent="0" marL="0">
              <a:buNone/>
              <a:defRPr lang="en-US" sz="2200" dirty="0">
                <a:solidFill>
                  <a:schemeClr val="accent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10698480" cy="2011680"/>
          </a:xfrm>
          <a:prstGeom prst="rect">
            <a:avLst/>
          </a:prstGeom>
          <a:noFill/>
          <a:ln/>
        </p:spPr>
        <p:txBody>
          <a:bodyPr wrap="square" lIns="0" tIns="0" rIns="0" bIns="0" rtlCol="0" anchor="b"/>
          <a:lstStyle/>
          <a:p>
            <a:pPr algn="l" indent="0" marL="0">
              <a:buNone/>
            </a:pPr>
            <a:r>
              <a:rPr lang="en-US" sz="4800" b="1" dirty="0">
                <a:solidFill>
                  <a:schemeClr val="bg1"/>
                </a:solidFill>
              </a:rPr>
              <a:t>RFMP: Remote File Management Protocol</a:t>
            </a:r>
            <a:endParaRPr lang="en-US" sz="4800" dirty="0"/>
          </a:p>
        </p:txBody>
      </p:sp>
      <p:sp>
        <p:nvSpPr>
          <p:cNvPr id="3" name="Text 0"/>
          <p:cNvSpPr/>
          <p:nvPr>
            <p:ph idx="101" type="body" hasCustomPrompt="1"/>
          </p:nvPr>
        </p:nvSpPr>
        <p:spPr>
          <a:xfrm>
            <a:off x="731520" y="3429000"/>
            <a:ext cx="10698480" cy="914400"/>
          </a:xfrm>
          <a:prstGeom prst="rect">
            <a:avLst/>
          </a:prstGeom>
          <a:noFill/>
          <a:ln/>
        </p:spPr>
        <p:txBody>
          <a:bodyPr wrap="square" lIns="0" tIns="0" rIns="0" bIns="0" rtlCol="0" anchor="t"/>
          <a:lstStyle/>
          <a:p>
            <a:pPr algn="l" indent="0" marL="0">
              <a:buNone/>
            </a:pPr>
            <a:r>
              <a:rPr lang="en-US" sz="2200" dirty="0">
                <a:solidFill>
                  <a:schemeClr val="accent1"/>
                </a:solidFill>
              </a:rPr>
              <a:t>A secure client-server file manager in Python and C  |  CSEC-201 Project</a:t>
            </a:r>
            <a:endParaRPr lang="en-US" sz="2200" dirty="0"/>
          </a:p>
        </p:txBody>
      </p:sp>
      <p:sp>
        <p:nvSpPr>
          <p:cNvPr id="4" name="Shape 2"/>
          <p:cNvSpPr/>
          <p:nvPr/>
        </p:nvSpPr>
        <p:spPr>
          <a:xfrm>
            <a:off x="731520" y="5120640"/>
            <a:ext cx="2514600" cy="731520"/>
          </a:xfrm>
          <a:prstGeom prst="roundRect">
            <a:avLst>
              <a:gd name="adj" fmla="val 15000"/>
            </a:avLst>
          </a:prstGeom>
          <a:solidFill>
            <a:schemeClr val="accent6"/>
          </a:solidFill>
          <a:ln/>
        </p:spPr>
      </p:sp>
      <p:sp>
        <p:nvSpPr>
          <p:cNvPr id="5" name="Text 3"/>
          <p:cNvSpPr txBox="1"/>
          <p:nvPr/>
        </p:nvSpPr>
        <p:spPr>
          <a:xfrm>
            <a:off x="731520" y="5120640"/>
            <a:ext cx="2514600" cy="731520"/>
          </a:xfrm>
          <a:prstGeom prst="rect">
            <a:avLst/>
          </a:prstGeom>
          <a:noFill/>
          <a:ln/>
        </p:spPr>
        <p:txBody>
          <a:bodyPr wrap="square" lIns="76200" tIns="76200" rIns="76200" bIns="76200" rtlCol="0" anchor="ctr"/>
          <a:lstStyle/>
          <a:p>
            <a:pPr algn="ctr" indent="0" marL="0">
              <a:buNone/>
            </a:pPr>
            <a:r>
              <a:rPr lang="en-US" sz="1300" dirty="0">
                <a:solidFill>
                  <a:schemeClr val="bg1"/>
                </a:solidFill>
              </a:rPr>
              <a:t>Ayham: Server</a:t>
            </a:r>
            <a:endParaRPr lang="en-US" sz="1300" dirty="0"/>
          </a:p>
        </p:txBody>
      </p:sp>
      <p:sp>
        <p:nvSpPr>
          <p:cNvPr id="6" name="Shape 4"/>
          <p:cNvSpPr/>
          <p:nvPr/>
        </p:nvSpPr>
        <p:spPr>
          <a:xfrm>
            <a:off x="3429000" y="5120640"/>
            <a:ext cx="2514600" cy="731520"/>
          </a:xfrm>
          <a:prstGeom prst="roundRect">
            <a:avLst>
              <a:gd name="adj" fmla="val 15000"/>
            </a:avLst>
          </a:prstGeom>
          <a:solidFill>
            <a:schemeClr val="accent6"/>
          </a:solidFill>
          <a:ln/>
        </p:spPr>
      </p:sp>
      <p:sp>
        <p:nvSpPr>
          <p:cNvPr id="7" name="Text 5"/>
          <p:cNvSpPr txBox="1"/>
          <p:nvPr/>
        </p:nvSpPr>
        <p:spPr>
          <a:xfrm>
            <a:off x="3429000" y="5120640"/>
            <a:ext cx="2514600" cy="731520"/>
          </a:xfrm>
          <a:prstGeom prst="rect">
            <a:avLst/>
          </a:prstGeom>
          <a:noFill/>
          <a:ln/>
        </p:spPr>
        <p:txBody>
          <a:bodyPr wrap="square" lIns="76200" tIns="76200" rIns="76200" bIns="76200" rtlCol="0" anchor="ctr"/>
          <a:lstStyle/>
          <a:p>
            <a:pPr algn="ctr" indent="0" marL="0">
              <a:buNone/>
            </a:pPr>
            <a:r>
              <a:rPr lang="en-US" sz="1300" dirty="0">
                <a:solidFill>
                  <a:schemeClr val="bg1"/>
                </a:solidFill>
              </a:rPr>
              <a:t>Abdulrahman Al Khatib: Python client</a:t>
            </a:r>
            <a:endParaRPr lang="en-US" sz="1300" dirty="0"/>
          </a:p>
        </p:txBody>
      </p:sp>
      <p:sp>
        <p:nvSpPr>
          <p:cNvPr id="8" name="Shape 6"/>
          <p:cNvSpPr/>
          <p:nvPr/>
        </p:nvSpPr>
        <p:spPr>
          <a:xfrm>
            <a:off x="6126480" y="5120640"/>
            <a:ext cx="2514600" cy="731520"/>
          </a:xfrm>
          <a:prstGeom prst="roundRect">
            <a:avLst>
              <a:gd name="adj" fmla="val 15000"/>
            </a:avLst>
          </a:prstGeom>
          <a:solidFill>
            <a:schemeClr val="accent6"/>
          </a:solidFill>
          <a:ln/>
        </p:spPr>
      </p:sp>
      <p:sp>
        <p:nvSpPr>
          <p:cNvPr id="9" name="Text 7"/>
          <p:cNvSpPr txBox="1"/>
          <p:nvPr/>
        </p:nvSpPr>
        <p:spPr>
          <a:xfrm>
            <a:off x="6126480" y="5120640"/>
            <a:ext cx="2514600" cy="731520"/>
          </a:xfrm>
          <a:prstGeom prst="rect">
            <a:avLst/>
          </a:prstGeom>
          <a:noFill/>
          <a:ln/>
        </p:spPr>
        <p:txBody>
          <a:bodyPr wrap="square" lIns="76200" tIns="76200" rIns="76200" bIns="76200" rtlCol="0" anchor="ctr"/>
          <a:lstStyle/>
          <a:p>
            <a:pPr algn="ctr" indent="0" marL="0">
              <a:buNone/>
            </a:pPr>
            <a:r>
              <a:rPr lang="en-US" sz="1300" dirty="0">
                <a:solidFill>
                  <a:schemeClr val="bg1"/>
                </a:solidFill>
              </a:rPr>
              <a:t>Elie: Packets &amp; encryption</a:t>
            </a:r>
            <a:endParaRPr lang="en-US" sz="1300" dirty="0"/>
          </a:p>
        </p:txBody>
      </p:sp>
      <p:sp>
        <p:nvSpPr>
          <p:cNvPr id="10" name="Shape 8"/>
          <p:cNvSpPr/>
          <p:nvPr/>
        </p:nvSpPr>
        <p:spPr>
          <a:xfrm>
            <a:off x="8823960" y="5120640"/>
            <a:ext cx="2514600" cy="731520"/>
          </a:xfrm>
          <a:prstGeom prst="roundRect">
            <a:avLst>
              <a:gd name="adj" fmla="val 15000"/>
            </a:avLst>
          </a:prstGeom>
          <a:solidFill>
            <a:schemeClr val="accent6"/>
          </a:solidFill>
          <a:ln/>
        </p:spPr>
      </p:sp>
      <p:sp>
        <p:nvSpPr>
          <p:cNvPr id="11" name="Text 9"/>
          <p:cNvSpPr txBox="1"/>
          <p:nvPr/>
        </p:nvSpPr>
        <p:spPr>
          <a:xfrm>
            <a:off x="8823960" y="5120640"/>
            <a:ext cx="2514600" cy="731520"/>
          </a:xfrm>
          <a:prstGeom prst="rect">
            <a:avLst/>
          </a:prstGeom>
          <a:noFill/>
          <a:ln/>
        </p:spPr>
        <p:txBody>
          <a:bodyPr wrap="square" lIns="76200" tIns="76200" rIns="76200" bIns="76200" rtlCol="0" anchor="ctr"/>
          <a:lstStyle/>
          <a:p>
            <a:pPr algn="ctr" indent="0" marL="0">
              <a:buNone/>
            </a:pPr>
            <a:r>
              <a:rPr lang="en-US" sz="1300" dirty="0">
                <a:solidFill>
                  <a:schemeClr val="bg1"/>
                </a:solidFill>
              </a:rPr>
              <a:t>Khaled: C client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Two clients, one multithreaded server, one protocol</a:t>
            </a:r>
            <a:endParaRPr lang="en-US" sz="3400" dirty="0"/>
          </a:p>
        </p:txBody>
      </p:sp>
      <p:sp>
        <p:nvSpPr>
          <p:cNvPr id="3" name="Shape 1"/>
          <p:cNvSpPr/>
          <p:nvPr/>
        </p:nvSpPr>
        <p:spPr>
          <a:xfrm>
            <a:off x="548640" y="1554480"/>
            <a:ext cx="2926080" cy="1188720"/>
          </a:xfrm>
          <a:prstGeom prst="roundRect">
            <a:avLst>
              <a:gd name="adj" fmla="val 9231"/>
            </a:avLst>
          </a:prstGeom>
          <a:solidFill>
            <a:schemeClr val="accent1"/>
          </a:solidFill>
          <a:ln/>
        </p:spPr>
      </p:sp>
      <p:sp>
        <p:nvSpPr>
          <p:cNvPr id="4" name="Text 2"/>
          <p:cNvSpPr txBox="1"/>
          <p:nvPr/>
        </p:nvSpPr>
        <p:spPr>
          <a:xfrm>
            <a:off x="548640" y="1554480"/>
            <a:ext cx="2926080" cy="1188720"/>
          </a:xfrm>
          <a:prstGeom prst="rect">
            <a:avLst/>
          </a:prstGeom>
          <a:noFill/>
          <a:ln/>
        </p:spPr>
        <p:txBody>
          <a:bodyPr wrap="square" lIns="76200" tIns="76200" rIns="76200" bIns="76200" rtlCol="0" anchor="ctr"/>
          <a:lstStyle/>
          <a:p>
            <a:pPr algn="ctr" indent="0" marL="0">
              <a:buNone/>
            </a:pPr>
            <a:r>
              <a:rPr lang="en-US" sz="1500" b="1" dirty="0">
                <a:solidFill>
                  <a:schemeClr val="bg1"/>
                </a:solidFill>
              </a:rPr>
              <a:t>ayham_client.py</a:t>
            </a:r>
            <a:endParaRPr lang="en-US" sz="1500" dirty="0"/>
          </a:p>
          <a:p>
            <a:pPr algn="ctr" indent="0" marL="0">
              <a:buNone/>
            </a:pPr>
            <a:r>
              <a:rPr lang="en-US" sz="1500" b="1" dirty="0">
                <a:solidFill>
                  <a:schemeClr val="bg1"/>
                </a:solidFill>
              </a:rPr>
              <a:t>Menu · NONE / AES / CAESAR</a:t>
            </a:r>
            <a:endParaRPr lang="en-US" sz="1500" dirty="0"/>
          </a:p>
        </p:txBody>
      </p:sp>
      <p:sp>
        <p:nvSpPr>
          <p:cNvPr id="5" name="Shape 3"/>
          <p:cNvSpPr/>
          <p:nvPr/>
        </p:nvSpPr>
        <p:spPr>
          <a:xfrm>
            <a:off x="548640" y="3291840"/>
            <a:ext cx="2926080" cy="1188720"/>
          </a:xfrm>
          <a:prstGeom prst="roundRect">
            <a:avLst>
              <a:gd name="adj" fmla="val 9231"/>
            </a:avLst>
          </a:prstGeom>
          <a:solidFill>
            <a:schemeClr val="accent4"/>
          </a:solidFill>
          <a:ln/>
        </p:spPr>
      </p:sp>
      <p:sp>
        <p:nvSpPr>
          <p:cNvPr id="6" name="Text 4"/>
          <p:cNvSpPr txBox="1"/>
          <p:nvPr/>
        </p:nvSpPr>
        <p:spPr>
          <a:xfrm>
            <a:off x="548640" y="3291840"/>
            <a:ext cx="2926080" cy="1188720"/>
          </a:xfrm>
          <a:prstGeom prst="rect">
            <a:avLst/>
          </a:prstGeom>
          <a:noFill/>
          <a:ln/>
        </p:spPr>
        <p:txBody>
          <a:bodyPr wrap="square" lIns="76200" tIns="76200" rIns="76200" bIns="76200" rtlCol="0" anchor="ctr"/>
          <a:lstStyle/>
          <a:p>
            <a:pPr algn="ctr" indent="0" marL="0">
              <a:buNone/>
            </a:pPr>
            <a:r>
              <a:rPr lang="en-US" sz="1500" b="1" dirty="0">
                <a:solidFill>
                  <a:schemeClr val="bg1"/>
                </a:solidFill>
              </a:rPr>
              <a:t>ayham_client.c</a:t>
            </a:r>
            <a:endParaRPr lang="en-US" sz="1500" dirty="0"/>
          </a:p>
          <a:p>
            <a:pPr algn="ctr" indent="0" marL="0">
              <a:buNone/>
            </a:pPr>
            <a:r>
              <a:rPr lang="en-US" sz="1500" b="1" dirty="0">
                <a:solidFill>
                  <a:schemeClr val="bg1"/>
                </a:solidFill>
              </a:rPr>
              <a:t>Unsecured · openRead only</a:t>
            </a:r>
            <a:endParaRPr lang="en-US" sz="1500" dirty="0"/>
          </a:p>
        </p:txBody>
      </p:sp>
      <p:sp>
        <p:nvSpPr>
          <p:cNvPr id="7" name="Shape 5"/>
          <p:cNvSpPr/>
          <p:nvPr/>
        </p:nvSpPr>
        <p:spPr>
          <a:xfrm>
            <a:off x="5120640" y="2103120"/>
            <a:ext cx="3108960" cy="1828800"/>
          </a:xfrm>
          <a:prstGeom prst="roundRect">
            <a:avLst>
              <a:gd name="adj" fmla="val 6000"/>
            </a:avLst>
          </a:prstGeom>
          <a:solidFill>
            <a:schemeClr val="tx1"/>
          </a:solidFill>
          <a:ln/>
        </p:spPr>
      </p:sp>
      <p:sp>
        <p:nvSpPr>
          <p:cNvPr id="8" name="Text 6"/>
          <p:cNvSpPr txBox="1"/>
          <p:nvPr/>
        </p:nvSpPr>
        <p:spPr>
          <a:xfrm>
            <a:off x="5120640" y="2103120"/>
            <a:ext cx="3108960" cy="1828800"/>
          </a:xfrm>
          <a:prstGeom prst="rect">
            <a:avLst/>
          </a:prstGeom>
          <a:noFill/>
          <a:ln/>
        </p:spPr>
        <p:txBody>
          <a:bodyPr wrap="square" lIns="76200" tIns="76200" rIns="76200" bIns="76200" rtlCol="0" anchor="ctr"/>
          <a:lstStyle/>
          <a:p>
            <a:pPr algn="ctr" indent="0" marL="0">
              <a:buNone/>
            </a:pPr>
            <a:r>
              <a:rPr lang="en-US" sz="1600" b="1" dirty="0">
                <a:solidFill>
                  <a:schemeClr val="bg1"/>
                </a:solidFill>
              </a:rPr>
              <a:t>ayham_server.py</a:t>
            </a:r>
            <a:endParaRPr lang="en-US" sz="1600" dirty="0"/>
          </a:p>
          <a:p>
            <a:pPr algn="ctr" indent="0" marL="0">
              <a:buNone/>
            </a:pPr>
            <a:r>
              <a:rPr lang="en-US" sz="1600" b="1" dirty="0">
                <a:solidFill>
                  <a:schemeClr val="bg1"/>
                </a:solidFill>
              </a:rPr>
              <a:t>One thread per client</a:t>
            </a:r>
            <a:endParaRPr lang="en-US" sz="1600" dirty="0"/>
          </a:p>
          <a:p>
            <a:pPr algn="ctr" indent="0" marL="0">
              <a:buNone/>
            </a:pPr>
            <a:r>
              <a:rPr lang="en-US" sz="1600" b="1" dirty="0">
                <a:solidFill>
                  <a:schemeClr val="bg1"/>
                </a:solidFill>
              </a:rPr>
              <a:t>Own session per client</a:t>
            </a:r>
            <a:endParaRPr lang="en-US" sz="1600" dirty="0"/>
          </a:p>
        </p:txBody>
      </p:sp>
      <p:sp>
        <p:nvSpPr>
          <p:cNvPr id="9" name="Shape 7"/>
          <p:cNvSpPr/>
          <p:nvPr/>
        </p:nvSpPr>
        <p:spPr>
          <a:xfrm>
            <a:off x="9692640" y="2423160"/>
            <a:ext cx="1920240" cy="1188720"/>
          </a:xfrm>
          <a:prstGeom prst="roundRect">
            <a:avLst>
              <a:gd name="adj" fmla="val 9231"/>
            </a:avLst>
          </a:prstGeom>
          <a:solidFill>
            <a:schemeClr val="bg2"/>
          </a:solidFill>
          <a:ln w="19050">
            <a:solidFill>
              <a:schemeClr val="accent5"/>
            </a:solidFill>
            <a:prstDash val="solid"/>
          </a:ln>
        </p:spPr>
      </p:sp>
      <p:sp>
        <p:nvSpPr>
          <p:cNvPr id="10" name="Text 8"/>
          <p:cNvSpPr txBox="1"/>
          <p:nvPr/>
        </p:nvSpPr>
        <p:spPr>
          <a:xfrm>
            <a:off x="9692640" y="2423160"/>
            <a:ext cx="1920240" cy="1188720"/>
          </a:xfrm>
          <a:prstGeom prst="rect">
            <a:avLst/>
          </a:prstGeom>
          <a:noFill/>
          <a:ln/>
        </p:spPr>
        <p:txBody>
          <a:bodyPr wrap="square" lIns="76200" tIns="76200" rIns="76200" bIns="76200" rtlCol="0" anchor="ctr"/>
          <a:lstStyle/>
          <a:p>
            <a:pPr algn="ctr" indent="0" marL="0">
              <a:buNone/>
            </a:pPr>
            <a:r>
              <a:rPr lang="en-US" sz="1400" dirty="0">
                <a:solidFill>
                  <a:schemeClr val="tx1"/>
                </a:solidFill>
              </a:rPr>
              <a:t>server_storage/</a:t>
            </a:r>
            <a:endParaRPr lang="en-US" sz="1400" dirty="0"/>
          </a:p>
          <a:p>
            <a:pPr algn="ctr" indent="0" marL="0">
              <a:buNone/>
            </a:pPr>
            <a:r>
              <a:rPr lang="en-US" sz="1400" dirty="0">
                <a:solidFill>
                  <a:schemeClr val="tx1"/>
                </a:solidFill>
              </a:rPr>
              <a:t>the files</a:t>
            </a:r>
            <a:endParaRPr lang="en-US" sz="1400" dirty="0"/>
          </a:p>
        </p:txBody>
      </p:sp>
      <p:sp>
        <p:nvSpPr>
          <p:cNvPr id="11" name="Shape 9"/>
          <p:cNvSpPr/>
          <p:nvPr/>
        </p:nvSpPr>
        <p:spPr>
          <a:xfrm>
            <a:off x="3474720" y="2148840"/>
            <a:ext cx="1645920" cy="548640"/>
          </a:xfrm>
          <a:prstGeom prst="line">
            <a:avLst/>
          </a:prstGeom>
          <a:noFill/>
          <a:ln w="31750">
            <a:solidFill>
              <a:schemeClr val="accent1"/>
            </a:solidFill>
            <a:prstDash val="solid"/>
            <a:tailEnd type="triangle"/>
          </a:ln>
        </p:spPr>
      </p:sp>
      <p:sp>
        <p:nvSpPr>
          <p:cNvPr id="12" name="Shape 10"/>
          <p:cNvSpPr/>
          <p:nvPr/>
        </p:nvSpPr>
        <p:spPr>
          <a:xfrm flipV="1">
            <a:off x="3474720" y="3337560"/>
            <a:ext cx="1645920" cy="548640"/>
          </a:xfrm>
          <a:prstGeom prst="line">
            <a:avLst/>
          </a:prstGeom>
          <a:noFill/>
          <a:ln w="31750">
            <a:solidFill>
              <a:schemeClr val="accent4"/>
            </a:solidFill>
            <a:prstDash val="solid"/>
            <a:tailEnd type="triangle"/>
          </a:ln>
        </p:spPr>
      </p:sp>
      <p:sp>
        <p:nvSpPr>
          <p:cNvPr id="13" name="Text 11"/>
          <p:cNvSpPr txBox="1"/>
          <p:nvPr/>
        </p:nvSpPr>
        <p:spPr>
          <a:xfrm>
            <a:off x="3611880" y="2880360"/>
            <a:ext cx="1463040" cy="365760"/>
          </a:xfrm>
          <a:prstGeom prst="rect">
            <a:avLst/>
          </a:prstGeom>
          <a:noFill/>
          <a:ln/>
        </p:spPr>
        <p:txBody>
          <a:bodyPr wrap="square" lIns="0" tIns="0" rIns="0" bIns="0" rtlCol="0" anchor="ctr"/>
          <a:lstStyle/>
          <a:p>
            <a:pPr algn="ctr" indent="0" marL="0">
              <a:buNone/>
            </a:pPr>
            <a:r>
              <a:rPr lang="en-US" sz="1200" i="1" dirty="0">
                <a:solidFill>
                  <a:schemeClr val="accent5"/>
                </a:solidFill>
              </a:rPr>
              <a:t>TCP port 5050</a:t>
            </a:r>
            <a:endParaRPr lang="en-US" sz="1200" dirty="0"/>
          </a:p>
        </p:txBody>
      </p:sp>
      <p:sp>
        <p:nvSpPr>
          <p:cNvPr id="14" name="Shape 12"/>
          <p:cNvSpPr/>
          <p:nvPr/>
        </p:nvSpPr>
        <p:spPr>
          <a:xfrm>
            <a:off x="8229600" y="3017520"/>
            <a:ext cx="1463040" cy="0"/>
          </a:xfrm>
          <a:prstGeom prst="line">
            <a:avLst/>
          </a:prstGeom>
          <a:noFill/>
          <a:ln w="31750">
            <a:solidFill>
              <a:schemeClr val="accent5"/>
            </a:solidFill>
            <a:prstDash val="solid"/>
            <a:tailEnd type="triangle"/>
          </a:ln>
        </p:spPr>
      </p:sp>
      <p:sp>
        <p:nvSpPr>
          <p:cNvPr id="15" name="Shape 13"/>
          <p:cNvSpPr/>
          <p:nvPr/>
        </p:nvSpPr>
        <p:spPr>
          <a:xfrm>
            <a:off x="548640" y="5074920"/>
            <a:ext cx="5394960" cy="1051560"/>
          </a:xfrm>
          <a:prstGeom prst="roundRect">
            <a:avLst>
              <a:gd name="adj" fmla="val 10435"/>
            </a:avLst>
          </a:prstGeom>
          <a:solidFill>
            <a:schemeClr val="bg2"/>
          </a:solidFill>
          <a:ln/>
        </p:spPr>
      </p:sp>
      <p:sp>
        <p:nvSpPr>
          <p:cNvPr id="16" name="Text 14"/>
          <p:cNvSpPr txBox="1"/>
          <p:nvPr/>
        </p:nvSpPr>
        <p:spPr>
          <a:xfrm>
            <a:off x="777240" y="5166360"/>
            <a:ext cx="2286000" cy="365760"/>
          </a:xfrm>
          <a:prstGeom prst="rect">
            <a:avLst/>
          </a:prstGeom>
          <a:noFill/>
          <a:ln/>
        </p:spPr>
        <p:txBody>
          <a:bodyPr wrap="square" lIns="0" tIns="0" rIns="0" bIns="0" rtlCol="0" anchor="ctr"/>
          <a:lstStyle/>
          <a:p>
            <a:pPr algn="l" indent="0" marL="0">
              <a:buNone/>
            </a:pPr>
            <a:r>
              <a:rPr lang="en-US" sz="1500" b="1" dirty="0">
                <a:solidFill>
                  <a:schemeClr val="accent1"/>
                </a:solidFill>
                <a:latin typeface="Courier New" pitchFamily="34" charset="0"/>
                <a:ea typeface="Courier New" pitchFamily="34" charset="-122"/>
                <a:cs typeface="Courier New" pitchFamily="34" charset="-120"/>
              </a:rPr>
              <a:t>packets.py</a:t>
            </a:r>
            <a:endParaRPr lang="en-US" sz="1500" dirty="0"/>
          </a:p>
        </p:txBody>
      </p:sp>
      <p:sp>
        <p:nvSpPr>
          <p:cNvPr id="17" name="Text 15"/>
          <p:cNvSpPr txBox="1"/>
          <p:nvPr/>
        </p:nvSpPr>
        <p:spPr>
          <a:xfrm>
            <a:off x="777240" y="5532120"/>
            <a:ext cx="5029200" cy="457200"/>
          </a:xfrm>
          <a:prstGeom prst="rect">
            <a:avLst/>
          </a:prstGeom>
          <a:noFill/>
          <a:ln/>
        </p:spPr>
        <p:txBody>
          <a:bodyPr wrap="square" lIns="0" tIns="0" rIns="0" bIns="0" rtlCol="0" anchor="ctr"/>
          <a:lstStyle/>
          <a:p>
            <a:pPr algn="l" indent="0" marL="0">
              <a:buNone/>
            </a:pPr>
            <a:r>
              <a:rPr lang="en-US" sz="1400" dirty="0">
                <a:solidFill>
                  <a:schemeClr val="tx1"/>
                </a:solidFill>
              </a:rPr>
              <a:t>4-byte length framing + Base64 fields</a:t>
            </a:r>
            <a:endParaRPr lang="en-US" sz="1400" dirty="0"/>
          </a:p>
        </p:txBody>
      </p:sp>
      <p:sp>
        <p:nvSpPr>
          <p:cNvPr id="18" name="Shape 16"/>
          <p:cNvSpPr/>
          <p:nvPr/>
        </p:nvSpPr>
        <p:spPr>
          <a:xfrm>
            <a:off x="6217920" y="5074920"/>
            <a:ext cx="5394960" cy="1051560"/>
          </a:xfrm>
          <a:prstGeom prst="roundRect">
            <a:avLst>
              <a:gd name="adj" fmla="val 10435"/>
            </a:avLst>
          </a:prstGeom>
          <a:solidFill>
            <a:schemeClr val="bg2"/>
          </a:solidFill>
          <a:ln/>
        </p:spPr>
      </p:sp>
      <p:sp>
        <p:nvSpPr>
          <p:cNvPr id="19" name="Text 17"/>
          <p:cNvSpPr txBox="1"/>
          <p:nvPr/>
        </p:nvSpPr>
        <p:spPr>
          <a:xfrm>
            <a:off x="6446520" y="5166360"/>
            <a:ext cx="2743200" cy="365760"/>
          </a:xfrm>
          <a:prstGeom prst="rect">
            <a:avLst/>
          </a:prstGeom>
          <a:noFill/>
          <a:ln/>
        </p:spPr>
        <p:txBody>
          <a:bodyPr wrap="square" lIns="0" tIns="0" rIns="0" bIns="0" rtlCol="0" anchor="ctr"/>
          <a:lstStyle/>
          <a:p>
            <a:pPr algn="l" indent="0" marL="0">
              <a:buNone/>
            </a:pPr>
            <a:r>
              <a:rPr lang="en-US" sz="1500" b="1" dirty="0">
                <a:solidFill>
                  <a:schemeClr val="accent2"/>
                </a:solidFill>
                <a:latin typeface="Courier New" pitchFamily="34" charset="0"/>
                <a:ea typeface="Courier New" pitchFamily="34" charset="-122"/>
                <a:cs typeface="Courier New" pitchFamily="34" charset="-120"/>
              </a:rPr>
              <a:t>crypto_utils.py</a:t>
            </a:r>
            <a:endParaRPr lang="en-US" sz="1500" dirty="0"/>
          </a:p>
        </p:txBody>
      </p:sp>
      <p:sp>
        <p:nvSpPr>
          <p:cNvPr id="20" name="Text 18"/>
          <p:cNvSpPr txBox="1"/>
          <p:nvPr/>
        </p:nvSpPr>
        <p:spPr>
          <a:xfrm>
            <a:off x="6446520" y="5532120"/>
            <a:ext cx="5029200" cy="457200"/>
          </a:xfrm>
          <a:prstGeom prst="rect">
            <a:avLst/>
          </a:prstGeom>
          <a:noFill/>
          <a:ln/>
        </p:spPr>
        <p:txBody>
          <a:bodyPr wrap="square" lIns="0" tIns="0" rIns="0" bIns="0" rtlCol="0" anchor="ctr"/>
          <a:lstStyle/>
          <a:p>
            <a:pPr algn="l" indent="0" marL="0">
              <a:buNone/>
            </a:pPr>
            <a:r>
              <a:rPr lang="en-US" sz="1400" dirty="0">
                <a:solidFill>
                  <a:schemeClr val="tx1"/>
                </a:solidFill>
              </a:rPr>
              <a:t>RSA key exchange · AES-GCM · Caesar</a:t>
            </a:r>
            <a:endParaRPr lang="en-US" sz="1400" dirty="0"/>
          </a:p>
        </p:txBody>
      </p:sp>
      <p:sp>
        <p:nvSpPr>
          <p:cNvPr id="21" name="Text 19"/>
          <p:cNvSpPr txBox="1"/>
          <p:nvPr/>
        </p:nvSpPr>
        <p:spPr>
          <a:xfrm>
            <a:off x="548640" y="4663440"/>
            <a:ext cx="5486400" cy="365760"/>
          </a:xfrm>
          <a:prstGeom prst="rect">
            <a:avLst/>
          </a:prstGeom>
          <a:noFill/>
          <a:ln/>
        </p:spPr>
        <p:txBody>
          <a:bodyPr wrap="square" lIns="0" tIns="0" rIns="0" bIns="0" rtlCol="0" anchor="ctr"/>
          <a:lstStyle/>
          <a:p>
            <a:pPr algn="l" indent="0" marL="0">
              <a:buNone/>
            </a:pPr>
            <a:r>
              <a:rPr lang="en-US" sz="1300" i="1" dirty="0">
                <a:solidFill>
                  <a:schemeClr val="accent5"/>
                </a:solidFill>
              </a:rPr>
              <a:t>Shared by the Python client and server:</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Every packet: a 4-byte length, then the text</a:t>
            </a:r>
            <a:endParaRPr lang="en-US" sz="3400" dirty="0"/>
          </a:p>
        </p:txBody>
      </p:sp>
      <p:sp>
        <p:nvSpPr>
          <p:cNvPr id="3" name="Shape 1"/>
          <p:cNvSpPr/>
          <p:nvPr/>
        </p:nvSpPr>
        <p:spPr>
          <a:xfrm>
            <a:off x="548640" y="1463040"/>
            <a:ext cx="2377440" cy="822960"/>
          </a:xfrm>
          <a:prstGeom prst="roundRect">
            <a:avLst>
              <a:gd name="adj" fmla="val 13333"/>
            </a:avLst>
          </a:prstGeom>
          <a:solidFill>
            <a:schemeClr val="accent2"/>
          </a:solidFill>
          <a:ln/>
        </p:spPr>
      </p:sp>
      <p:sp>
        <p:nvSpPr>
          <p:cNvPr id="4" name="Text 2"/>
          <p:cNvSpPr txBox="1"/>
          <p:nvPr/>
        </p:nvSpPr>
        <p:spPr>
          <a:xfrm>
            <a:off x="548640" y="1463040"/>
            <a:ext cx="2377440" cy="822960"/>
          </a:xfrm>
          <a:prstGeom prst="rect">
            <a:avLst/>
          </a:prstGeom>
          <a:noFill/>
          <a:ln/>
        </p:spPr>
        <p:txBody>
          <a:bodyPr wrap="square" lIns="76200" tIns="76200" rIns="76200" bIns="7620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00 00 00 10</a:t>
            </a:r>
            <a:endParaRPr lang="en-US" sz="2000" dirty="0"/>
          </a:p>
        </p:txBody>
      </p:sp>
      <p:sp>
        <p:nvSpPr>
          <p:cNvPr id="5" name="Shape 3"/>
          <p:cNvSpPr/>
          <p:nvPr/>
        </p:nvSpPr>
        <p:spPr>
          <a:xfrm>
            <a:off x="2926080" y="1463040"/>
            <a:ext cx="5486400" cy="822960"/>
          </a:xfrm>
          <a:prstGeom prst="roundRect">
            <a:avLst>
              <a:gd name="adj" fmla="val 5556"/>
            </a:avLst>
          </a:prstGeom>
          <a:solidFill>
            <a:schemeClr val="tx1"/>
          </a:solidFill>
          <a:ln/>
        </p:spPr>
      </p:sp>
      <p:sp>
        <p:nvSpPr>
          <p:cNvPr id="6" name="Text 4"/>
          <p:cNvSpPr txBox="1"/>
          <p:nvPr/>
        </p:nvSpPr>
        <p:spPr>
          <a:xfrm>
            <a:off x="2926080" y="1463040"/>
            <a:ext cx="5486400" cy="822960"/>
          </a:xfrm>
          <a:prstGeom prst="rect">
            <a:avLst/>
          </a:prstGeom>
          <a:noFill/>
          <a:ln/>
        </p:spPr>
        <p:txBody>
          <a:bodyPr wrap="square" lIns="76200" tIns="76200" rIns="76200" bIns="7620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(SS,RFMP,v1.0,0)</a:t>
            </a:r>
            <a:endParaRPr lang="en-US" sz="2000" dirty="0"/>
          </a:p>
        </p:txBody>
      </p:sp>
      <p:sp>
        <p:nvSpPr>
          <p:cNvPr id="7" name="Text 5"/>
          <p:cNvSpPr txBox="1"/>
          <p:nvPr/>
        </p:nvSpPr>
        <p:spPr>
          <a:xfrm>
            <a:off x="548640" y="2377440"/>
            <a:ext cx="2377440" cy="365760"/>
          </a:xfrm>
          <a:prstGeom prst="rect">
            <a:avLst/>
          </a:prstGeom>
          <a:noFill/>
          <a:ln/>
        </p:spPr>
        <p:txBody>
          <a:bodyPr wrap="square" lIns="0" tIns="0" rIns="0" bIns="0" rtlCol="0" anchor="ctr"/>
          <a:lstStyle/>
          <a:p>
            <a:pPr algn="ctr" indent="0" marL="0">
              <a:buNone/>
            </a:pPr>
            <a:r>
              <a:rPr lang="en-US" sz="1200" dirty="0">
                <a:solidFill>
                  <a:schemeClr val="accent5"/>
                </a:solidFill>
              </a:rPr>
              <a:t>length = 16 bytes (big-endian)</a:t>
            </a:r>
            <a:endParaRPr lang="en-US" sz="1200" dirty="0"/>
          </a:p>
        </p:txBody>
      </p:sp>
      <p:sp>
        <p:nvSpPr>
          <p:cNvPr id="8" name="Text 6"/>
          <p:cNvSpPr txBox="1"/>
          <p:nvPr/>
        </p:nvSpPr>
        <p:spPr>
          <a:xfrm>
            <a:off x="2926080" y="2377440"/>
            <a:ext cx="5486400" cy="365760"/>
          </a:xfrm>
          <a:prstGeom prst="rect">
            <a:avLst/>
          </a:prstGeom>
          <a:noFill/>
          <a:ln/>
        </p:spPr>
        <p:txBody>
          <a:bodyPr wrap="square" lIns="0" tIns="0" rIns="0" bIns="0" rtlCol="0" anchor="ctr"/>
          <a:lstStyle/>
          <a:p>
            <a:pPr algn="ctr" indent="0" marL="0">
              <a:buNone/>
            </a:pPr>
            <a:r>
              <a:rPr lang="en-US" sz="1200" dirty="0">
                <a:solidFill>
                  <a:schemeClr val="accent5"/>
                </a:solidFill>
              </a:rPr>
              <a:t>packet body: 16 bytes</a:t>
            </a:r>
            <a:endParaRPr lang="en-US" sz="1200" dirty="0"/>
          </a:p>
        </p:txBody>
      </p:sp>
      <p:sp>
        <p:nvSpPr>
          <p:cNvPr id="9" name="Shape 7"/>
          <p:cNvSpPr/>
          <p:nvPr/>
        </p:nvSpPr>
        <p:spPr>
          <a:xfrm>
            <a:off x="8778240" y="1463040"/>
            <a:ext cx="2834640" cy="1280160"/>
          </a:xfrm>
          <a:prstGeom prst="roundRect">
            <a:avLst>
              <a:gd name="adj" fmla="val 8571"/>
            </a:avLst>
          </a:prstGeom>
          <a:solidFill>
            <a:schemeClr val="bg2"/>
          </a:solidFill>
          <a:ln/>
        </p:spPr>
      </p:sp>
      <p:sp>
        <p:nvSpPr>
          <p:cNvPr id="10" name="Text 8"/>
          <p:cNvSpPr txBox="1"/>
          <p:nvPr/>
        </p:nvSpPr>
        <p:spPr>
          <a:xfrm>
            <a:off x="8778240" y="1463040"/>
            <a:ext cx="2834640" cy="1280160"/>
          </a:xfrm>
          <a:prstGeom prst="rect">
            <a:avLst/>
          </a:prstGeom>
          <a:noFill/>
          <a:ln/>
        </p:spPr>
        <p:txBody>
          <a:bodyPr wrap="square" lIns="76200" tIns="76200" rIns="76200" bIns="76200" rtlCol="0" anchor="ctr"/>
          <a:lstStyle/>
          <a:p>
            <a:pPr algn="ctr" indent="0" marL="0">
              <a:buNone/>
            </a:pPr>
            <a:r>
              <a:rPr lang="en-US" sz="1400" dirty="0">
                <a:solidFill>
                  <a:schemeClr val="tx1"/>
                </a:solidFill>
              </a:rPr>
              <a:t>Why? TCP is a stream:</a:t>
            </a:r>
            <a:endParaRPr lang="en-US" sz="1400" dirty="0"/>
          </a:p>
          <a:p>
            <a:pPr algn="ctr" indent="0" marL="0">
              <a:buNone/>
            </a:pPr>
            <a:r>
              <a:rPr lang="en-US" sz="1400" dirty="0">
                <a:solidFill>
                  <a:schemeClr val="tx1"/>
                </a:solidFill>
              </a:rPr>
              <a:t>recv() can return half</a:t>
            </a:r>
            <a:endParaRPr lang="en-US" sz="1400" dirty="0"/>
          </a:p>
          <a:p>
            <a:pPr algn="ctr" indent="0" marL="0">
              <a:buNone/>
            </a:pPr>
            <a:r>
              <a:rPr lang="en-US" sz="1400" dirty="0">
                <a:solidFill>
                  <a:schemeClr val="tx1"/>
                </a:solidFill>
              </a:rPr>
              <a:t>a packet</a:t>
            </a:r>
            <a:endParaRPr lang="en-US" sz="1400" dirty="0"/>
          </a:p>
        </p:txBody>
      </p:sp>
      <p:sp>
        <p:nvSpPr>
          <p:cNvPr id="11" name="Text 9"/>
          <p:cNvSpPr txBox="1"/>
          <p:nvPr/>
        </p:nvSpPr>
        <p:spPr>
          <a:xfrm>
            <a:off x="548640" y="2926080"/>
            <a:ext cx="11064240" cy="411480"/>
          </a:xfrm>
          <a:prstGeom prst="rect">
            <a:avLst/>
          </a:prstGeom>
          <a:noFill/>
          <a:ln/>
        </p:spPr>
        <p:txBody>
          <a:bodyPr wrap="square" lIns="0" tIns="0" rIns="0" bIns="0" rtlCol="0" anchor="ctr"/>
          <a:lstStyle/>
          <a:p>
            <a:pPr algn="l" indent="0" marL="0">
              <a:buNone/>
            </a:pPr>
            <a:r>
              <a:rPr lang="en-US" sz="1500" b="1" dirty="0">
                <a:solidFill>
                  <a:schemeClr val="accent1"/>
                </a:solidFill>
              </a:rPr>
              <a:t>Base64 keeps commas out of fields:  data.txt  →  ZGF0YS50eHQ=   (encoding, not encryption)</a:t>
            </a:r>
            <a:endParaRPr lang="en-US" sz="1500" dirty="0"/>
          </a:p>
        </p:txBody>
      </p:sp>
      <p:sp>
        <p:nvSpPr>
          <p:cNvPr id="12" name="Shape 10"/>
          <p:cNvSpPr/>
          <p:nvPr/>
        </p:nvSpPr>
        <p:spPr>
          <a:xfrm>
            <a:off x="548640" y="3566160"/>
            <a:ext cx="2651760" cy="1143000"/>
          </a:xfrm>
          <a:prstGeom prst="roundRect">
            <a:avLst>
              <a:gd name="adj" fmla="val 9600"/>
            </a:avLst>
          </a:prstGeom>
          <a:solidFill>
            <a:schemeClr val="bg2"/>
          </a:solidFill>
          <a:ln/>
        </p:spPr>
      </p:sp>
      <p:sp>
        <p:nvSpPr>
          <p:cNvPr id="13" name="Shape 11"/>
          <p:cNvSpPr/>
          <p:nvPr/>
        </p:nvSpPr>
        <p:spPr>
          <a:xfrm>
            <a:off x="685800" y="3749040"/>
            <a:ext cx="868680" cy="777240"/>
          </a:xfrm>
          <a:prstGeom prst="roundRect">
            <a:avLst>
              <a:gd name="adj" fmla="val 14118"/>
            </a:avLst>
          </a:prstGeom>
          <a:solidFill>
            <a:schemeClr val="accent1"/>
          </a:solidFill>
          <a:ln/>
        </p:spPr>
      </p:sp>
      <p:sp>
        <p:nvSpPr>
          <p:cNvPr id="14" name="Text 12"/>
          <p:cNvSpPr txBox="1"/>
          <p:nvPr/>
        </p:nvSpPr>
        <p:spPr>
          <a:xfrm>
            <a:off x="685800" y="374904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SS</a:t>
            </a:r>
            <a:endParaRPr lang="en-US" sz="1800" dirty="0"/>
          </a:p>
        </p:txBody>
      </p:sp>
      <p:sp>
        <p:nvSpPr>
          <p:cNvPr id="15" name="Text 13"/>
          <p:cNvSpPr txBox="1"/>
          <p:nvPr/>
        </p:nvSpPr>
        <p:spPr>
          <a:xfrm>
            <a:off x="1691640" y="374904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Start</a:t>
            </a:r>
            <a:endParaRPr lang="en-US" sz="1600" dirty="0"/>
          </a:p>
        </p:txBody>
      </p:sp>
      <p:sp>
        <p:nvSpPr>
          <p:cNvPr id="16" name="Text 14"/>
          <p:cNvSpPr txBox="1"/>
          <p:nvPr/>
        </p:nvSpPr>
        <p:spPr>
          <a:xfrm>
            <a:off x="1691640" y="413308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C → S</a:t>
            </a:r>
            <a:endParaRPr lang="en-US" sz="1300" dirty="0"/>
          </a:p>
        </p:txBody>
      </p:sp>
      <p:sp>
        <p:nvSpPr>
          <p:cNvPr id="17" name="Shape 15"/>
          <p:cNvSpPr/>
          <p:nvPr/>
        </p:nvSpPr>
        <p:spPr>
          <a:xfrm>
            <a:off x="3383280" y="3566160"/>
            <a:ext cx="2651760" cy="1143000"/>
          </a:xfrm>
          <a:prstGeom prst="roundRect">
            <a:avLst>
              <a:gd name="adj" fmla="val 9600"/>
            </a:avLst>
          </a:prstGeom>
          <a:solidFill>
            <a:schemeClr val="bg2"/>
          </a:solidFill>
          <a:ln/>
        </p:spPr>
      </p:sp>
      <p:sp>
        <p:nvSpPr>
          <p:cNvPr id="18" name="Shape 16"/>
          <p:cNvSpPr/>
          <p:nvPr/>
        </p:nvSpPr>
        <p:spPr>
          <a:xfrm>
            <a:off x="3520440" y="3749040"/>
            <a:ext cx="868680" cy="777240"/>
          </a:xfrm>
          <a:prstGeom prst="roundRect">
            <a:avLst>
              <a:gd name="adj" fmla="val 14118"/>
            </a:avLst>
          </a:prstGeom>
          <a:solidFill>
            <a:schemeClr val="accent1"/>
          </a:solidFill>
          <a:ln/>
        </p:spPr>
      </p:sp>
      <p:sp>
        <p:nvSpPr>
          <p:cNvPr id="19" name="Text 17"/>
          <p:cNvSpPr txBox="1"/>
          <p:nvPr/>
        </p:nvSpPr>
        <p:spPr>
          <a:xfrm>
            <a:off x="3520440" y="374904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CC</a:t>
            </a:r>
            <a:endParaRPr lang="en-US" sz="1800" dirty="0"/>
          </a:p>
        </p:txBody>
      </p:sp>
      <p:sp>
        <p:nvSpPr>
          <p:cNvPr id="20" name="Text 18"/>
          <p:cNvSpPr txBox="1"/>
          <p:nvPr/>
        </p:nvSpPr>
        <p:spPr>
          <a:xfrm>
            <a:off x="4526280" y="374904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Confirm</a:t>
            </a:r>
            <a:endParaRPr lang="en-US" sz="1600" dirty="0"/>
          </a:p>
        </p:txBody>
      </p:sp>
      <p:sp>
        <p:nvSpPr>
          <p:cNvPr id="21" name="Text 19"/>
          <p:cNvSpPr txBox="1"/>
          <p:nvPr/>
        </p:nvSpPr>
        <p:spPr>
          <a:xfrm>
            <a:off x="4526280" y="413308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S → C</a:t>
            </a:r>
            <a:endParaRPr lang="en-US" sz="1300" dirty="0"/>
          </a:p>
        </p:txBody>
      </p:sp>
      <p:sp>
        <p:nvSpPr>
          <p:cNvPr id="22" name="Shape 20"/>
          <p:cNvSpPr/>
          <p:nvPr/>
        </p:nvSpPr>
        <p:spPr>
          <a:xfrm>
            <a:off x="6217920" y="3566160"/>
            <a:ext cx="2651760" cy="1143000"/>
          </a:xfrm>
          <a:prstGeom prst="roundRect">
            <a:avLst>
              <a:gd name="adj" fmla="val 9600"/>
            </a:avLst>
          </a:prstGeom>
          <a:solidFill>
            <a:schemeClr val="bg2"/>
          </a:solidFill>
          <a:ln/>
        </p:spPr>
      </p:sp>
      <p:sp>
        <p:nvSpPr>
          <p:cNvPr id="23" name="Shape 21"/>
          <p:cNvSpPr/>
          <p:nvPr/>
        </p:nvSpPr>
        <p:spPr>
          <a:xfrm>
            <a:off x="6355080" y="3749040"/>
            <a:ext cx="868680" cy="777240"/>
          </a:xfrm>
          <a:prstGeom prst="roundRect">
            <a:avLst>
              <a:gd name="adj" fmla="val 14118"/>
            </a:avLst>
          </a:prstGeom>
          <a:solidFill>
            <a:schemeClr val="accent2"/>
          </a:solidFill>
          <a:ln/>
        </p:spPr>
      </p:sp>
      <p:sp>
        <p:nvSpPr>
          <p:cNvPr id="24" name="Text 22"/>
          <p:cNvSpPr txBox="1"/>
          <p:nvPr/>
        </p:nvSpPr>
        <p:spPr>
          <a:xfrm>
            <a:off x="6355080" y="374904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EC</a:t>
            </a:r>
            <a:endParaRPr lang="en-US" sz="1800" dirty="0"/>
          </a:p>
        </p:txBody>
      </p:sp>
      <p:sp>
        <p:nvSpPr>
          <p:cNvPr id="25" name="Text 23"/>
          <p:cNvSpPr txBox="1"/>
          <p:nvPr/>
        </p:nvSpPr>
        <p:spPr>
          <a:xfrm>
            <a:off x="7360920" y="374904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Encryption</a:t>
            </a:r>
            <a:endParaRPr lang="en-US" sz="1600" dirty="0"/>
          </a:p>
        </p:txBody>
      </p:sp>
      <p:sp>
        <p:nvSpPr>
          <p:cNvPr id="26" name="Text 24"/>
          <p:cNvSpPr txBox="1"/>
          <p:nvPr/>
        </p:nvSpPr>
        <p:spPr>
          <a:xfrm>
            <a:off x="7360920" y="413308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C → S</a:t>
            </a:r>
            <a:endParaRPr lang="en-US" sz="1300" dirty="0"/>
          </a:p>
        </p:txBody>
      </p:sp>
      <p:sp>
        <p:nvSpPr>
          <p:cNvPr id="27" name="Shape 25"/>
          <p:cNvSpPr/>
          <p:nvPr/>
        </p:nvSpPr>
        <p:spPr>
          <a:xfrm>
            <a:off x="9052560" y="3566160"/>
            <a:ext cx="2651760" cy="1143000"/>
          </a:xfrm>
          <a:prstGeom prst="roundRect">
            <a:avLst>
              <a:gd name="adj" fmla="val 9600"/>
            </a:avLst>
          </a:prstGeom>
          <a:solidFill>
            <a:schemeClr val="bg2"/>
          </a:solidFill>
          <a:ln/>
        </p:spPr>
      </p:sp>
      <p:sp>
        <p:nvSpPr>
          <p:cNvPr id="28" name="Shape 26"/>
          <p:cNvSpPr/>
          <p:nvPr/>
        </p:nvSpPr>
        <p:spPr>
          <a:xfrm>
            <a:off x="9189720" y="3749040"/>
            <a:ext cx="868680" cy="777240"/>
          </a:xfrm>
          <a:prstGeom prst="roundRect">
            <a:avLst>
              <a:gd name="adj" fmla="val 14118"/>
            </a:avLst>
          </a:prstGeom>
          <a:solidFill>
            <a:schemeClr val="accent1"/>
          </a:solidFill>
          <a:ln/>
        </p:spPr>
      </p:sp>
      <p:sp>
        <p:nvSpPr>
          <p:cNvPr id="29" name="Text 27"/>
          <p:cNvSpPr txBox="1"/>
          <p:nvPr/>
        </p:nvSpPr>
        <p:spPr>
          <a:xfrm>
            <a:off x="9189720" y="374904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CM</a:t>
            </a:r>
            <a:endParaRPr lang="en-US" sz="1800" dirty="0"/>
          </a:p>
        </p:txBody>
      </p:sp>
      <p:sp>
        <p:nvSpPr>
          <p:cNvPr id="30" name="Text 28"/>
          <p:cNvSpPr txBox="1"/>
          <p:nvPr/>
        </p:nvSpPr>
        <p:spPr>
          <a:xfrm>
            <a:off x="10195560" y="374904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Command</a:t>
            </a:r>
            <a:endParaRPr lang="en-US" sz="1600" dirty="0"/>
          </a:p>
        </p:txBody>
      </p:sp>
      <p:sp>
        <p:nvSpPr>
          <p:cNvPr id="31" name="Text 29"/>
          <p:cNvSpPr txBox="1"/>
          <p:nvPr/>
        </p:nvSpPr>
        <p:spPr>
          <a:xfrm>
            <a:off x="10195560" y="413308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C → S</a:t>
            </a:r>
            <a:endParaRPr lang="en-US" sz="1300" dirty="0"/>
          </a:p>
        </p:txBody>
      </p:sp>
      <p:sp>
        <p:nvSpPr>
          <p:cNvPr id="32" name="Shape 30"/>
          <p:cNvSpPr/>
          <p:nvPr/>
        </p:nvSpPr>
        <p:spPr>
          <a:xfrm>
            <a:off x="548640" y="4892040"/>
            <a:ext cx="2651760" cy="1143000"/>
          </a:xfrm>
          <a:prstGeom prst="roundRect">
            <a:avLst>
              <a:gd name="adj" fmla="val 9600"/>
            </a:avLst>
          </a:prstGeom>
          <a:solidFill>
            <a:schemeClr val="bg2"/>
          </a:solidFill>
          <a:ln/>
        </p:spPr>
      </p:sp>
      <p:sp>
        <p:nvSpPr>
          <p:cNvPr id="33" name="Shape 31"/>
          <p:cNvSpPr/>
          <p:nvPr/>
        </p:nvSpPr>
        <p:spPr>
          <a:xfrm>
            <a:off x="685800" y="5074920"/>
            <a:ext cx="868680" cy="777240"/>
          </a:xfrm>
          <a:prstGeom prst="roundRect">
            <a:avLst>
              <a:gd name="adj" fmla="val 14118"/>
            </a:avLst>
          </a:prstGeom>
          <a:solidFill>
            <a:schemeClr val="accent2"/>
          </a:solidFill>
          <a:ln/>
        </p:spPr>
      </p:sp>
      <p:sp>
        <p:nvSpPr>
          <p:cNvPr id="34" name="Text 32"/>
          <p:cNvSpPr txBox="1"/>
          <p:nvPr/>
        </p:nvSpPr>
        <p:spPr>
          <a:xfrm>
            <a:off x="685800" y="507492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DP</a:t>
            </a:r>
            <a:endParaRPr lang="en-US" sz="1800" dirty="0"/>
          </a:p>
        </p:txBody>
      </p:sp>
      <p:sp>
        <p:nvSpPr>
          <p:cNvPr id="35" name="Text 33"/>
          <p:cNvSpPr txBox="1"/>
          <p:nvPr/>
        </p:nvSpPr>
        <p:spPr>
          <a:xfrm>
            <a:off x="1691640" y="507492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Data</a:t>
            </a:r>
            <a:endParaRPr lang="en-US" sz="1600" dirty="0"/>
          </a:p>
        </p:txBody>
      </p:sp>
      <p:sp>
        <p:nvSpPr>
          <p:cNvPr id="36" name="Text 34"/>
          <p:cNvSpPr txBox="1"/>
          <p:nvPr/>
        </p:nvSpPr>
        <p:spPr>
          <a:xfrm>
            <a:off x="1691640" y="545896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Both</a:t>
            </a:r>
            <a:endParaRPr lang="en-US" sz="1300" dirty="0"/>
          </a:p>
        </p:txBody>
      </p:sp>
      <p:sp>
        <p:nvSpPr>
          <p:cNvPr id="37" name="Shape 35"/>
          <p:cNvSpPr/>
          <p:nvPr/>
        </p:nvSpPr>
        <p:spPr>
          <a:xfrm>
            <a:off x="3383280" y="4892040"/>
            <a:ext cx="2651760" cy="1143000"/>
          </a:xfrm>
          <a:prstGeom prst="roundRect">
            <a:avLst>
              <a:gd name="adj" fmla="val 9600"/>
            </a:avLst>
          </a:prstGeom>
          <a:solidFill>
            <a:schemeClr val="bg2"/>
          </a:solidFill>
          <a:ln/>
        </p:spPr>
      </p:sp>
      <p:sp>
        <p:nvSpPr>
          <p:cNvPr id="38" name="Shape 36"/>
          <p:cNvSpPr/>
          <p:nvPr/>
        </p:nvSpPr>
        <p:spPr>
          <a:xfrm>
            <a:off x="3520440" y="5074920"/>
            <a:ext cx="868680" cy="777240"/>
          </a:xfrm>
          <a:prstGeom prst="roundRect">
            <a:avLst>
              <a:gd name="adj" fmla="val 14118"/>
            </a:avLst>
          </a:prstGeom>
          <a:solidFill>
            <a:schemeClr val="accent1"/>
          </a:solidFill>
          <a:ln/>
        </p:spPr>
      </p:sp>
      <p:sp>
        <p:nvSpPr>
          <p:cNvPr id="39" name="Text 37"/>
          <p:cNvSpPr txBox="1"/>
          <p:nvPr/>
        </p:nvSpPr>
        <p:spPr>
          <a:xfrm>
            <a:off x="3520440" y="507492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SC</a:t>
            </a:r>
            <a:endParaRPr lang="en-US" sz="1800" dirty="0"/>
          </a:p>
        </p:txBody>
      </p:sp>
      <p:sp>
        <p:nvSpPr>
          <p:cNvPr id="40" name="Text 38"/>
          <p:cNvSpPr txBox="1"/>
          <p:nvPr/>
        </p:nvSpPr>
        <p:spPr>
          <a:xfrm>
            <a:off x="4526280" y="507492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Success</a:t>
            </a:r>
            <a:endParaRPr lang="en-US" sz="1600" dirty="0"/>
          </a:p>
        </p:txBody>
      </p:sp>
      <p:sp>
        <p:nvSpPr>
          <p:cNvPr id="41" name="Text 39"/>
          <p:cNvSpPr txBox="1"/>
          <p:nvPr/>
        </p:nvSpPr>
        <p:spPr>
          <a:xfrm>
            <a:off x="4526280" y="545896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S → C</a:t>
            </a:r>
            <a:endParaRPr lang="en-US" sz="1300" dirty="0"/>
          </a:p>
        </p:txBody>
      </p:sp>
      <p:sp>
        <p:nvSpPr>
          <p:cNvPr id="42" name="Shape 40"/>
          <p:cNvSpPr/>
          <p:nvPr/>
        </p:nvSpPr>
        <p:spPr>
          <a:xfrm>
            <a:off x="6217920" y="4892040"/>
            <a:ext cx="2651760" cy="1143000"/>
          </a:xfrm>
          <a:prstGeom prst="roundRect">
            <a:avLst>
              <a:gd name="adj" fmla="val 9600"/>
            </a:avLst>
          </a:prstGeom>
          <a:solidFill>
            <a:schemeClr val="bg2"/>
          </a:solidFill>
          <a:ln/>
        </p:spPr>
      </p:sp>
      <p:sp>
        <p:nvSpPr>
          <p:cNvPr id="43" name="Shape 41"/>
          <p:cNvSpPr/>
          <p:nvPr/>
        </p:nvSpPr>
        <p:spPr>
          <a:xfrm>
            <a:off x="6355080" y="5074920"/>
            <a:ext cx="868680" cy="777240"/>
          </a:xfrm>
          <a:prstGeom prst="roundRect">
            <a:avLst>
              <a:gd name="adj" fmla="val 14118"/>
            </a:avLst>
          </a:prstGeom>
          <a:solidFill>
            <a:schemeClr val="accent3"/>
          </a:solidFill>
          <a:ln/>
        </p:spPr>
      </p:sp>
      <p:sp>
        <p:nvSpPr>
          <p:cNvPr id="44" name="Text 42"/>
          <p:cNvSpPr txBox="1"/>
          <p:nvPr/>
        </p:nvSpPr>
        <p:spPr>
          <a:xfrm>
            <a:off x="6355080" y="507492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EE</a:t>
            </a:r>
            <a:endParaRPr lang="en-US" sz="1800" dirty="0"/>
          </a:p>
        </p:txBody>
      </p:sp>
      <p:sp>
        <p:nvSpPr>
          <p:cNvPr id="45" name="Text 43"/>
          <p:cNvSpPr txBox="1"/>
          <p:nvPr/>
        </p:nvSpPr>
        <p:spPr>
          <a:xfrm>
            <a:off x="7360920" y="507492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Error</a:t>
            </a:r>
            <a:endParaRPr lang="en-US" sz="1600" dirty="0"/>
          </a:p>
        </p:txBody>
      </p:sp>
      <p:sp>
        <p:nvSpPr>
          <p:cNvPr id="46" name="Text 44"/>
          <p:cNvSpPr txBox="1"/>
          <p:nvPr/>
        </p:nvSpPr>
        <p:spPr>
          <a:xfrm>
            <a:off x="7360920" y="545896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S → C</a:t>
            </a:r>
            <a:endParaRPr lang="en-US" sz="1300" dirty="0"/>
          </a:p>
        </p:txBody>
      </p:sp>
      <p:sp>
        <p:nvSpPr>
          <p:cNvPr id="47" name="Shape 45"/>
          <p:cNvSpPr/>
          <p:nvPr/>
        </p:nvSpPr>
        <p:spPr>
          <a:xfrm>
            <a:off x="9052560" y="4892040"/>
            <a:ext cx="2651760" cy="1143000"/>
          </a:xfrm>
          <a:prstGeom prst="roundRect">
            <a:avLst>
              <a:gd name="adj" fmla="val 9600"/>
            </a:avLst>
          </a:prstGeom>
          <a:solidFill>
            <a:schemeClr val="bg2"/>
          </a:solidFill>
          <a:ln/>
        </p:spPr>
      </p:sp>
      <p:sp>
        <p:nvSpPr>
          <p:cNvPr id="48" name="Shape 46"/>
          <p:cNvSpPr/>
          <p:nvPr/>
        </p:nvSpPr>
        <p:spPr>
          <a:xfrm>
            <a:off x="9189720" y="5074920"/>
            <a:ext cx="868680" cy="777240"/>
          </a:xfrm>
          <a:prstGeom prst="roundRect">
            <a:avLst>
              <a:gd name="adj" fmla="val 14118"/>
            </a:avLst>
          </a:prstGeom>
          <a:solidFill>
            <a:schemeClr val="accent1"/>
          </a:solidFill>
          <a:ln/>
        </p:spPr>
      </p:sp>
      <p:sp>
        <p:nvSpPr>
          <p:cNvPr id="49" name="Text 47"/>
          <p:cNvSpPr txBox="1"/>
          <p:nvPr/>
        </p:nvSpPr>
        <p:spPr>
          <a:xfrm>
            <a:off x="9189720" y="507492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End</a:t>
            </a:r>
            <a:endParaRPr lang="en-US" sz="1800" dirty="0"/>
          </a:p>
        </p:txBody>
      </p:sp>
      <p:sp>
        <p:nvSpPr>
          <p:cNvPr id="50" name="Text 48"/>
          <p:cNvSpPr txBox="1"/>
          <p:nvPr/>
        </p:nvSpPr>
        <p:spPr>
          <a:xfrm>
            <a:off x="10195560" y="507492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Close</a:t>
            </a:r>
            <a:endParaRPr lang="en-US" sz="1600" dirty="0"/>
          </a:p>
        </p:txBody>
      </p:sp>
      <p:sp>
        <p:nvSpPr>
          <p:cNvPr id="51" name="Text 49"/>
          <p:cNvSpPr txBox="1"/>
          <p:nvPr/>
        </p:nvSpPr>
        <p:spPr>
          <a:xfrm>
            <a:off x="10195560" y="545896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C → S</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Setup phase: unsecured vs. secured</a:t>
            </a:r>
            <a:endParaRPr lang="en-US" sz="3400" dirty="0"/>
          </a:p>
        </p:txBody>
      </p:sp>
      <p:sp>
        <p:nvSpPr>
          <p:cNvPr id="3" name="Text 1"/>
          <p:cNvSpPr txBox="1"/>
          <p:nvPr/>
        </p:nvSpPr>
        <p:spPr>
          <a:xfrm>
            <a:off x="548640" y="1280160"/>
            <a:ext cx="4206240" cy="365760"/>
          </a:xfrm>
          <a:prstGeom prst="rect">
            <a:avLst/>
          </a:prstGeom>
          <a:noFill/>
          <a:ln/>
        </p:spPr>
        <p:txBody>
          <a:bodyPr wrap="square" lIns="0" tIns="0" rIns="0" bIns="0" rtlCol="0" anchor="ctr"/>
          <a:lstStyle/>
          <a:p>
            <a:pPr algn="l" indent="0" marL="0">
              <a:buNone/>
            </a:pPr>
            <a:r>
              <a:rPr lang="en-US" sz="1700" b="1" dirty="0">
                <a:solidFill>
                  <a:schemeClr val="accent4"/>
                </a:solidFill>
              </a:rPr>
              <a:t>Unsecured (flag 0)</a:t>
            </a:r>
            <a:endParaRPr lang="en-US" sz="1700" dirty="0"/>
          </a:p>
        </p:txBody>
      </p:sp>
      <p:sp>
        <p:nvSpPr>
          <p:cNvPr id="4" name="Shape 2"/>
          <p:cNvSpPr/>
          <p:nvPr/>
        </p:nvSpPr>
        <p:spPr>
          <a:xfrm>
            <a:off x="548640" y="1737360"/>
            <a:ext cx="1463040" cy="457200"/>
          </a:xfrm>
          <a:prstGeom prst="roundRect">
            <a:avLst>
              <a:gd name="adj" fmla="val 24000"/>
            </a:avLst>
          </a:prstGeom>
          <a:solidFill>
            <a:schemeClr val="tx1"/>
          </a:solidFill>
          <a:ln/>
        </p:spPr>
      </p:sp>
      <p:sp>
        <p:nvSpPr>
          <p:cNvPr id="5" name="Text 3"/>
          <p:cNvSpPr txBox="1"/>
          <p:nvPr/>
        </p:nvSpPr>
        <p:spPr>
          <a:xfrm>
            <a:off x="54864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Client</a:t>
            </a:r>
            <a:endParaRPr lang="en-US" sz="1400" dirty="0"/>
          </a:p>
        </p:txBody>
      </p:sp>
      <p:sp>
        <p:nvSpPr>
          <p:cNvPr id="6" name="Shape 4"/>
          <p:cNvSpPr/>
          <p:nvPr/>
        </p:nvSpPr>
        <p:spPr>
          <a:xfrm>
            <a:off x="3291840" y="1737360"/>
            <a:ext cx="1463040" cy="457200"/>
          </a:xfrm>
          <a:prstGeom prst="roundRect">
            <a:avLst>
              <a:gd name="adj" fmla="val 24000"/>
            </a:avLst>
          </a:prstGeom>
          <a:solidFill>
            <a:schemeClr val="tx1"/>
          </a:solidFill>
          <a:ln/>
        </p:spPr>
      </p:sp>
      <p:sp>
        <p:nvSpPr>
          <p:cNvPr id="7" name="Text 5"/>
          <p:cNvSpPr txBox="1"/>
          <p:nvPr/>
        </p:nvSpPr>
        <p:spPr>
          <a:xfrm>
            <a:off x="329184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Server</a:t>
            </a:r>
            <a:endParaRPr lang="en-US" sz="1400" dirty="0"/>
          </a:p>
        </p:txBody>
      </p:sp>
      <p:sp>
        <p:nvSpPr>
          <p:cNvPr id="8" name="Shape 6"/>
          <p:cNvSpPr/>
          <p:nvPr/>
        </p:nvSpPr>
        <p:spPr>
          <a:xfrm>
            <a:off x="1280160" y="2194560"/>
            <a:ext cx="0" cy="1371600"/>
          </a:xfrm>
          <a:prstGeom prst="line">
            <a:avLst/>
          </a:prstGeom>
          <a:noFill/>
          <a:ln w="12700">
            <a:solidFill>
              <a:schemeClr val="accent5"/>
            </a:solidFill>
            <a:prstDash val="dash"/>
          </a:ln>
        </p:spPr>
      </p:sp>
      <p:sp>
        <p:nvSpPr>
          <p:cNvPr id="9" name="Shape 7"/>
          <p:cNvSpPr/>
          <p:nvPr/>
        </p:nvSpPr>
        <p:spPr>
          <a:xfrm>
            <a:off x="4023360" y="2194560"/>
            <a:ext cx="0" cy="1371600"/>
          </a:xfrm>
          <a:prstGeom prst="line">
            <a:avLst/>
          </a:prstGeom>
          <a:noFill/>
          <a:ln w="12700">
            <a:solidFill>
              <a:schemeClr val="accent5"/>
            </a:solidFill>
            <a:prstDash val="dash"/>
          </a:ln>
        </p:spPr>
      </p:sp>
      <p:sp>
        <p:nvSpPr>
          <p:cNvPr id="10" name="Shape 8"/>
          <p:cNvSpPr/>
          <p:nvPr/>
        </p:nvSpPr>
        <p:spPr>
          <a:xfrm>
            <a:off x="1280160" y="2514600"/>
            <a:ext cx="2743200" cy="0"/>
          </a:xfrm>
          <a:prstGeom prst="line">
            <a:avLst/>
          </a:prstGeom>
          <a:noFill/>
          <a:ln w="25400">
            <a:solidFill>
              <a:schemeClr val="accent1"/>
            </a:solidFill>
            <a:prstDash val="solid"/>
            <a:tailEnd type="triangle"/>
          </a:ln>
        </p:spPr>
      </p:sp>
      <p:sp>
        <p:nvSpPr>
          <p:cNvPr id="11" name="Text 9"/>
          <p:cNvSpPr txBox="1"/>
          <p:nvPr/>
        </p:nvSpPr>
        <p:spPr>
          <a:xfrm>
            <a:off x="1417320" y="2185416"/>
            <a:ext cx="2468880" cy="292608"/>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(SS,RFMP,v1.0,0)</a:t>
            </a:r>
            <a:endParaRPr lang="en-US" sz="1300" dirty="0"/>
          </a:p>
        </p:txBody>
      </p:sp>
      <p:sp>
        <p:nvSpPr>
          <p:cNvPr id="12" name="Shape 10"/>
          <p:cNvSpPr/>
          <p:nvPr/>
        </p:nvSpPr>
        <p:spPr>
          <a:xfrm flipH="1">
            <a:off x="1280160" y="3108960"/>
            <a:ext cx="2743200" cy="0"/>
          </a:xfrm>
          <a:prstGeom prst="line">
            <a:avLst/>
          </a:prstGeom>
          <a:noFill/>
          <a:ln w="25400">
            <a:solidFill>
              <a:schemeClr val="accent4"/>
            </a:solidFill>
            <a:prstDash val="solid"/>
            <a:tailEnd type="triangle"/>
          </a:ln>
        </p:spPr>
      </p:sp>
      <p:sp>
        <p:nvSpPr>
          <p:cNvPr id="13" name="Text 11"/>
          <p:cNvSpPr txBox="1"/>
          <p:nvPr/>
        </p:nvSpPr>
        <p:spPr>
          <a:xfrm>
            <a:off x="1417320" y="2779776"/>
            <a:ext cx="2468880" cy="292608"/>
          </a:xfrm>
          <a:prstGeom prst="rect">
            <a:avLst/>
          </a:prstGeom>
          <a:noFill/>
          <a:ln/>
        </p:spPr>
        <p:txBody>
          <a:bodyPr wrap="square" lIns="0" tIns="0" rIns="0" bIns="0" rtlCol="0" anchor="ctr"/>
          <a:lstStyle/>
          <a:p>
            <a:pPr algn="ctr" indent="0" marL="0">
              <a:buNone/>
            </a:pPr>
            <a:r>
              <a:rPr lang="en-US" sz="1300" b="1" dirty="0">
                <a:solidFill>
                  <a:schemeClr val="accent4"/>
                </a:solidFill>
                <a:latin typeface="Courier New" pitchFamily="34" charset="0"/>
                <a:ea typeface="Courier New" pitchFamily="34" charset="-122"/>
                <a:cs typeface="Courier New" pitchFamily="34" charset="-120"/>
              </a:rPr>
              <a:t>(CC)</a:t>
            </a:r>
            <a:endParaRPr lang="en-US" sz="1300" dirty="0"/>
          </a:p>
        </p:txBody>
      </p:sp>
      <p:sp>
        <p:nvSpPr>
          <p:cNvPr id="14" name="Shape 12"/>
          <p:cNvSpPr/>
          <p:nvPr/>
        </p:nvSpPr>
        <p:spPr>
          <a:xfrm>
            <a:off x="548640" y="4023360"/>
            <a:ext cx="4206240" cy="2103120"/>
          </a:xfrm>
          <a:prstGeom prst="roundRect">
            <a:avLst>
              <a:gd name="adj" fmla="val 5217"/>
            </a:avLst>
          </a:prstGeom>
          <a:solidFill>
            <a:schemeClr val="bg2"/>
          </a:solidFill>
          <a:ln/>
        </p:spPr>
      </p:sp>
      <p:sp>
        <p:nvSpPr>
          <p:cNvPr id="15" name="Text 13"/>
          <p:cNvSpPr txBox="1"/>
          <p:nvPr/>
        </p:nvSpPr>
        <p:spPr>
          <a:xfrm>
            <a:off x="548640" y="4023360"/>
            <a:ext cx="4206240" cy="2103120"/>
          </a:xfrm>
          <a:prstGeom prst="rect">
            <a:avLst/>
          </a:prstGeom>
          <a:noFill/>
          <a:ln/>
        </p:spPr>
        <p:txBody>
          <a:bodyPr wrap="square" lIns="76200" tIns="76200" rIns="76200" bIns="76200" rtlCol="0" anchor="ctr"/>
          <a:lstStyle/>
          <a:p>
            <a:pPr algn="ctr" indent="0" marL="0">
              <a:buNone/>
            </a:pPr>
            <a:r>
              <a:rPr lang="en-US" sz="1500" dirty="0">
                <a:solidFill>
                  <a:schemeClr val="tx1"/>
                </a:solidFill>
              </a:rPr>
              <a:t>Python client in NONE mode</a:t>
            </a:r>
            <a:endParaRPr lang="en-US" sz="1500" dirty="0"/>
          </a:p>
          <a:p>
            <a:pPr algn="ctr" indent="0" marL="0">
              <a:buNone/>
            </a:pPr>
            <a:r>
              <a:rPr lang="en-US" sz="1500" dirty="0">
                <a:solidFill>
                  <a:schemeClr val="tx1"/>
                </a:solidFill>
              </a:rPr>
              <a:t>and the C client use this path.</a:t>
            </a:r>
            <a:endParaRPr lang="en-US" sz="1500" dirty="0"/>
          </a:p>
          <a:p>
            <a:pPr algn="ctr" indent="0" marL="0">
              <a:buNone/>
            </a:pPr>
            <a:endParaRPr lang="en-US" sz="1500" dirty="0"/>
          </a:p>
          <a:p>
            <a:pPr algn="ctr" indent="0" marL="0">
              <a:buNone/>
            </a:pPr>
            <a:r>
              <a:rPr lang="en-US" sz="1500" dirty="0">
                <a:solidFill>
                  <a:schemeClr val="tx1"/>
                </a:solidFill>
              </a:rPr>
              <a:t>No keys, no EC packet.</a:t>
            </a:r>
            <a:endParaRPr lang="en-US" sz="1500" dirty="0"/>
          </a:p>
        </p:txBody>
      </p:sp>
      <p:sp>
        <p:nvSpPr>
          <p:cNvPr id="16" name="Text 14"/>
          <p:cNvSpPr txBox="1"/>
          <p:nvPr/>
        </p:nvSpPr>
        <p:spPr>
          <a:xfrm>
            <a:off x="5486400" y="1280160"/>
            <a:ext cx="6126480" cy="365760"/>
          </a:xfrm>
          <a:prstGeom prst="rect">
            <a:avLst/>
          </a:prstGeom>
          <a:noFill/>
          <a:ln/>
        </p:spPr>
        <p:txBody>
          <a:bodyPr wrap="square" lIns="0" tIns="0" rIns="0" bIns="0" rtlCol="0" anchor="ctr"/>
          <a:lstStyle/>
          <a:p>
            <a:pPr algn="l" indent="0" marL="0">
              <a:buNone/>
            </a:pPr>
            <a:r>
              <a:rPr lang="en-US" sz="1700" b="1" dirty="0">
                <a:solidFill>
                  <a:schemeClr val="accent1"/>
                </a:solidFill>
              </a:rPr>
              <a:t>Secured (flag 1)</a:t>
            </a:r>
            <a:endParaRPr lang="en-US" sz="1700" dirty="0"/>
          </a:p>
        </p:txBody>
      </p:sp>
      <p:sp>
        <p:nvSpPr>
          <p:cNvPr id="17" name="Shape 15"/>
          <p:cNvSpPr/>
          <p:nvPr/>
        </p:nvSpPr>
        <p:spPr>
          <a:xfrm>
            <a:off x="5486400" y="1737360"/>
            <a:ext cx="1463040" cy="457200"/>
          </a:xfrm>
          <a:prstGeom prst="roundRect">
            <a:avLst>
              <a:gd name="adj" fmla="val 24000"/>
            </a:avLst>
          </a:prstGeom>
          <a:solidFill>
            <a:schemeClr val="tx1"/>
          </a:solidFill>
          <a:ln/>
        </p:spPr>
      </p:sp>
      <p:sp>
        <p:nvSpPr>
          <p:cNvPr id="18" name="Text 16"/>
          <p:cNvSpPr txBox="1"/>
          <p:nvPr/>
        </p:nvSpPr>
        <p:spPr>
          <a:xfrm>
            <a:off x="548640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Client</a:t>
            </a:r>
            <a:endParaRPr lang="en-US" sz="1400" dirty="0"/>
          </a:p>
        </p:txBody>
      </p:sp>
      <p:sp>
        <p:nvSpPr>
          <p:cNvPr id="19" name="Shape 17"/>
          <p:cNvSpPr/>
          <p:nvPr/>
        </p:nvSpPr>
        <p:spPr>
          <a:xfrm>
            <a:off x="10149840" y="1737360"/>
            <a:ext cx="1463040" cy="457200"/>
          </a:xfrm>
          <a:prstGeom prst="roundRect">
            <a:avLst>
              <a:gd name="adj" fmla="val 24000"/>
            </a:avLst>
          </a:prstGeom>
          <a:solidFill>
            <a:schemeClr val="tx1"/>
          </a:solidFill>
          <a:ln/>
        </p:spPr>
      </p:sp>
      <p:sp>
        <p:nvSpPr>
          <p:cNvPr id="20" name="Text 18"/>
          <p:cNvSpPr txBox="1"/>
          <p:nvPr/>
        </p:nvSpPr>
        <p:spPr>
          <a:xfrm>
            <a:off x="1014984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Server</a:t>
            </a:r>
            <a:endParaRPr lang="en-US" sz="1400" dirty="0"/>
          </a:p>
        </p:txBody>
      </p:sp>
      <p:sp>
        <p:nvSpPr>
          <p:cNvPr id="21" name="Shape 19"/>
          <p:cNvSpPr/>
          <p:nvPr/>
        </p:nvSpPr>
        <p:spPr>
          <a:xfrm>
            <a:off x="6217920" y="2194560"/>
            <a:ext cx="0" cy="3931920"/>
          </a:xfrm>
          <a:prstGeom prst="line">
            <a:avLst/>
          </a:prstGeom>
          <a:noFill/>
          <a:ln w="12700">
            <a:solidFill>
              <a:schemeClr val="accent5"/>
            </a:solidFill>
            <a:prstDash val="dash"/>
          </a:ln>
        </p:spPr>
      </p:sp>
      <p:sp>
        <p:nvSpPr>
          <p:cNvPr id="22" name="Shape 20"/>
          <p:cNvSpPr/>
          <p:nvPr/>
        </p:nvSpPr>
        <p:spPr>
          <a:xfrm>
            <a:off x="10881360" y="2194560"/>
            <a:ext cx="0" cy="3931920"/>
          </a:xfrm>
          <a:prstGeom prst="line">
            <a:avLst/>
          </a:prstGeom>
          <a:noFill/>
          <a:ln w="12700">
            <a:solidFill>
              <a:schemeClr val="accent5"/>
            </a:solidFill>
            <a:prstDash val="dash"/>
          </a:ln>
        </p:spPr>
      </p:sp>
      <p:sp>
        <p:nvSpPr>
          <p:cNvPr id="23" name="Shape 21"/>
          <p:cNvSpPr/>
          <p:nvPr/>
        </p:nvSpPr>
        <p:spPr>
          <a:xfrm>
            <a:off x="6217920" y="2514600"/>
            <a:ext cx="4663440" cy="0"/>
          </a:xfrm>
          <a:prstGeom prst="line">
            <a:avLst/>
          </a:prstGeom>
          <a:noFill/>
          <a:ln w="25400">
            <a:solidFill>
              <a:schemeClr val="accent1"/>
            </a:solidFill>
            <a:prstDash val="solid"/>
            <a:tailEnd type="triangle"/>
          </a:ln>
        </p:spPr>
      </p:sp>
      <p:sp>
        <p:nvSpPr>
          <p:cNvPr id="24" name="Text 22"/>
          <p:cNvSpPr txBox="1"/>
          <p:nvPr/>
        </p:nvSpPr>
        <p:spPr>
          <a:xfrm>
            <a:off x="6355080" y="2185416"/>
            <a:ext cx="4389120" cy="292608"/>
          </a:xfrm>
          <a:prstGeom prst="rect">
            <a:avLst/>
          </a:prstGeom>
          <a:noFill/>
          <a:ln/>
        </p:spPr>
        <p:txBody>
          <a:bodyPr wrap="square" lIns="0" tIns="0" rIns="0" bIns="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(SS,RFMP,v1.0,1)</a:t>
            </a:r>
            <a:endParaRPr lang="en-US" sz="1200" dirty="0"/>
          </a:p>
        </p:txBody>
      </p:sp>
      <p:sp>
        <p:nvSpPr>
          <p:cNvPr id="25" name="Shape 23"/>
          <p:cNvSpPr/>
          <p:nvPr/>
        </p:nvSpPr>
        <p:spPr>
          <a:xfrm flipH="1">
            <a:off x="6217920" y="3451860"/>
            <a:ext cx="4663440" cy="0"/>
          </a:xfrm>
          <a:prstGeom prst="line">
            <a:avLst/>
          </a:prstGeom>
          <a:noFill/>
          <a:ln w="25400">
            <a:solidFill>
              <a:schemeClr val="accent4"/>
            </a:solidFill>
            <a:prstDash val="solid"/>
            <a:tailEnd type="triangle"/>
          </a:ln>
        </p:spPr>
      </p:sp>
      <p:sp>
        <p:nvSpPr>
          <p:cNvPr id="26" name="Text 24"/>
          <p:cNvSpPr txBox="1"/>
          <p:nvPr/>
        </p:nvSpPr>
        <p:spPr>
          <a:xfrm>
            <a:off x="6355080" y="3122676"/>
            <a:ext cx="4389120" cy="292608"/>
          </a:xfrm>
          <a:prstGeom prst="rect">
            <a:avLst/>
          </a:prstGeom>
          <a:noFill/>
          <a:ln/>
        </p:spPr>
        <p:txBody>
          <a:bodyPr wrap="square" lIns="0" tIns="0" rIns="0" bIns="0" rtlCol="0" anchor="ctr"/>
          <a:lstStyle/>
          <a:p>
            <a:pPr algn="ctr" indent="0" marL="0">
              <a:buNone/>
            </a:pPr>
            <a:r>
              <a:rPr lang="en-US" sz="1200" b="1" dirty="0">
                <a:solidFill>
                  <a:schemeClr val="accent4"/>
                </a:solidFill>
                <a:latin typeface="Courier New" pitchFamily="34" charset="0"/>
                <a:ea typeface="Courier New" pitchFamily="34" charset="-122"/>
                <a:cs typeface="Courier New" pitchFamily="34" charset="-120"/>
              </a:rPr>
              <a:t>(CC, server_public_key)</a:t>
            </a:r>
            <a:endParaRPr lang="en-US" sz="1200" dirty="0"/>
          </a:p>
        </p:txBody>
      </p:sp>
      <p:sp>
        <p:nvSpPr>
          <p:cNvPr id="27" name="Shape 25"/>
          <p:cNvSpPr/>
          <p:nvPr/>
        </p:nvSpPr>
        <p:spPr>
          <a:xfrm>
            <a:off x="6217920" y="4389120"/>
            <a:ext cx="4663440" cy="0"/>
          </a:xfrm>
          <a:prstGeom prst="line">
            <a:avLst/>
          </a:prstGeom>
          <a:noFill/>
          <a:ln w="25400">
            <a:solidFill>
              <a:schemeClr val="accent2"/>
            </a:solidFill>
            <a:prstDash val="solid"/>
            <a:tailEnd type="triangle"/>
          </a:ln>
        </p:spPr>
      </p:sp>
      <p:sp>
        <p:nvSpPr>
          <p:cNvPr id="28" name="Text 26"/>
          <p:cNvSpPr txBox="1"/>
          <p:nvPr/>
        </p:nvSpPr>
        <p:spPr>
          <a:xfrm>
            <a:off x="6355080" y="4059936"/>
            <a:ext cx="4389120" cy="292608"/>
          </a:xfrm>
          <a:prstGeom prst="rect">
            <a:avLst/>
          </a:prstGeom>
          <a:noFill/>
          <a:ln/>
        </p:spPr>
        <p:txBody>
          <a:bodyPr wrap="square" lIns="0" tIns="0" rIns="0" bIns="0" rtlCol="0" anchor="ctr"/>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(EC, AES, Enc(session_key), user:client_pubkey)</a:t>
            </a:r>
            <a:endParaRPr lang="en-US" sz="1200" dirty="0"/>
          </a:p>
        </p:txBody>
      </p:sp>
      <p:sp>
        <p:nvSpPr>
          <p:cNvPr id="29" name="Shape 27"/>
          <p:cNvSpPr/>
          <p:nvPr/>
        </p:nvSpPr>
        <p:spPr>
          <a:xfrm flipH="1">
            <a:off x="6217920" y="5326380"/>
            <a:ext cx="4663440" cy="0"/>
          </a:xfrm>
          <a:prstGeom prst="line">
            <a:avLst/>
          </a:prstGeom>
          <a:noFill/>
          <a:ln w="25400">
            <a:solidFill>
              <a:schemeClr val="accent4"/>
            </a:solidFill>
            <a:prstDash val="solid"/>
            <a:tailEnd type="triangle"/>
          </a:ln>
        </p:spPr>
      </p:sp>
      <p:sp>
        <p:nvSpPr>
          <p:cNvPr id="30" name="Text 28"/>
          <p:cNvSpPr txBox="1"/>
          <p:nvPr/>
        </p:nvSpPr>
        <p:spPr>
          <a:xfrm>
            <a:off x="6355080" y="4997196"/>
            <a:ext cx="4389120" cy="292608"/>
          </a:xfrm>
          <a:prstGeom prst="rect">
            <a:avLst/>
          </a:prstGeom>
          <a:noFill/>
          <a:ln/>
        </p:spPr>
        <p:txBody>
          <a:bodyPr wrap="square" lIns="0" tIns="0" rIns="0" bIns="0" rtlCol="0" anchor="ctr"/>
          <a:lstStyle/>
          <a:p>
            <a:pPr algn="ctr" indent="0" marL="0">
              <a:buNone/>
            </a:pPr>
            <a:r>
              <a:rPr lang="en-US" sz="1200" b="1" dirty="0">
                <a:solidFill>
                  <a:schemeClr val="accent4"/>
                </a:solidFill>
                <a:latin typeface="Courier New" pitchFamily="34" charset="0"/>
                <a:ea typeface="Courier New" pitchFamily="34" charset="-122"/>
                <a:cs typeface="Courier New" pitchFamily="34" charset="-120"/>
              </a:rPr>
              <a:t>(SC, SETUP_COMPLETE)</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RSA shares the key once; AES or Caesar encrypts the files</a:t>
            </a:r>
            <a:endParaRPr lang="en-US" sz="3400" dirty="0"/>
          </a:p>
        </p:txBody>
      </p:sp>
      <p:sp>
        <p:nvSpPr>
          <p:cNvPr id="3" name="Shape 1"/>
          <p:cNvSpPr/>
          <p:nvPr/>
        </p:nvSpPr>
        <p:spPr>
          <a:xfrm>
            <a:off x="548640" y="1463040"/>
            <a:ext cx="2606040" cy="2194560"/>
          </a:xfrm>
          <a:prstGeom prst="roundRect">
            <a:avLst>
              <a:gd name="adj" fmla="val 5000"/>
            </a:avLst>
          </a:prstGeom>
          <a:solidFill>
            <a:schemeClr val="bg2"/>
          </a:solidFill>
          <a:ln/>
        </p:spPr>
      </p:sp>
      <p:sp>
        <p:nvSpPr>
          <p:cNvPr id="4" name="Shape 2"/>
          <p:cNvSpPr/>
          <p:nvPr/>
        </p:nvSpPr>
        <p:spPr>
          <a:xfrm>
            <a:off x="731520" y="1645920"/>
            <a:ext cx="502920" cy="502920"/>
          </a:xfrm>
          <a:prstGeom prst="ellipse">
            <a:avLst/>
          </a:prstGeom>
          <a:solidFill>
            <a:schemeClr val="accent1"/>
          </a:solidFill>
          <a:ln/>
        </p:spPr>
      </p:sp>
      <p:sp>
        <p:nvSpPr>
          <p:cNvPr id="5" name="Text 3"/>
          <p:cNvSpPr txBox="1"/>
          <p:nvPr/>
        </p:nvSpPr>
        <p:spPr>
          <a:xfrm>
            <a:off x="73152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731520" y="2240280"/>
            <a:ext cx="2286000" cy="594360"/>
          </a:xfrm>
          <a:prstGeom prst="rect">
            <a:avLst/>
          </a:prstGeom>
          <a:noFill/>
          <a:ln/>
        </p:spPr>
        <p:txBody>
          <a:bodyPr wrap="square" lIns="0" tIns="0" rIns="0" bIns="0" rtlCol="0" anchor="ctr"/>
          <a:lstStyle/>
          <a:p>
            <a:pPr algn="l" indent="0" marL="0">
              <a:buNone/>
            </a:pPr>
            <a:r>
              <a:rPr lang="en-US" sz="1600" b="1" dirty="0">
                <a:solidFill>
                  <a:schemeClr val="tx1"/>
                </a:solidFill>
              </a:rPr>
              <a:t>Client makes a session key</a:t>
            </a:r>
            <a:endParaRPr lang="en-US" sz="1600" dirty="0"/>
          </a:p>
        </p:txBody>
      </p:sp>
      <p:sp>
        <p:nvSpPr>
          <p:cNvPr id="7" name="Text 5"/>
          <p:cNvSpPr txBox="1"/>
          <p:nvPr/>
        </p:nvSpPr>
        <p:spPr>
          <a:xfrm>
            <a:off x="731520" y="2834640"/>
            <a:ext cx="2286000" cy="731520"/>
          </a:xfrm>
          <a:prstGeom prst="rect">
            <a:avLst/>
          </a:prstGeom>
          <a:noFill/>
          <a:ln/>
        </p:spPr>
        <p:txBody>
          <a:bodyPr wrap="square" lIns="0" tIns="0" rIns="0" bIns="0" rtlCol="0" anchor="ctr"/>
          <a:lstStyle/>
          <a:p>
            <a:pPr algn="l" indent="0" marL="0">
              <a:buNone/>
            </a:pPr>
            <a:r>
              <a:rPr lang="en-US" sz="1300" dirty="0">
                <a:solidFill>
                  <a:schemeClr val="tx1"/>
                </a:solidFill>
              </a:rPr>
              <a:t>AES: 32 random bytes</a:t>
            </a:r>
            <a:endParaRPr lang="en-US" sz="1300" dirty="0"/>
          </a:p>
          <a:p>
            <a:pPr algn="l" indent="0" marL="0">
              <a:buNone/>
            </a:pPr>
            <a:r>
              <a:rPr lang="en-US" sz="1300" dirty="0">
                <a:solidFill>
                  <a:schemeClr val="tx1"/>
                </a:solidFill>
              </a:rPr>
              <a:t>Caesar: one shift, 1 to 25</a:t>
            </a:r>
            <a:endParaRPr lang="en-US" sz="1300" dirty="0"/>
          </a:p>
        </p:txBody>
      </p:sp>
      <p:sp>
        <p:nvSpPr>
          <p:cNvPr id="8" name="Shape 6"/>
          <p:cNvSpPr/>
          <p:nvPr/>
        </p:nvSpPr>
        <p:spPr>
          <a:xfrm>
            <a:off x="3163824" y="2560320"/>
            <a:ext cx="210312" cy="0"/>
          </a:xfrm>
          <a:prstGeom prst="line">
            <a:avLst/>
          </a:prstGeom>
          <a:noFill/>
          <a:ln w="25400">
            <a:solidFill>
              <a:schemeClr val="accent5"/>
            </a:solidFill>
            <a:prstDash val="solid"/>
            <a:tailEnd type="triangle"/>
          </a:ln>
        </p:spPr>
      </p:sp>
      <p:sp>
        <p:nvSpPr>
          <p:cNvPr id="9" name="Shape 7"/>
          <p:cNvSpPr/>
          <p:nvPr/>
        </p:nvSpPr>
        <p:spPr>
          <a:xfrm>
            <a:off x="3383280" y="1463040"/>
            <a:ext cx="2606040" cy="2194560"/>
          </a:xfrm>
          <a:prstGeom prst="roundRect">
            <a:avLst>
              <a:gd name="adj" fmla="val 5000"/>
            </a:avLst>
          </a:prstGeom>
          <a:solidFill>
            <a:schemeClr val="bg2"/>
          </a:solidFill>
          <a:ln/>
        </p:spPr>
      </p:sp>
      <p:sp>
        <p:nvSpPr>
          <p:cNvPr id="10" name="Shape 8"/>
          <p:cNvSpPr/>
          <p:nvPr/>
        </p:nvSpPr>
        <p:spPr>
          <a:xfrm>
            <a:off x="3566160" y="1645920"/>
            <a:ext cx="502920" cy="502920"/>
          </a:xfrm>
          <a:prstGeom prst="ellipse">
            <a:avLst/>
          </a:prstGeom>
          <a:solidFill>
            <a:schemeClr val="accent4"/>
          </a:solidFill>
          <a:ln/>
        </p:spPr>
      </p:sp>
      <p:sp>
        <p:nvSpPr>
          <p:cNvPr id="11" name="Text 9"/>
          <p:cNvSpPr txBox="1"/>
          <p:nvPr/>
        </p:nvSpPr>
        <p:spPr>
          <a:xfrm>
            <a:off x="356616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3566160" y="2240280"/>
            <a:ext cx="2286000" cy="594360"/>
          </a:xfrm>
          <a:prstGeom prst="rect">
            <a:avLst/>
          </a:prstGeom>
          <a:noFill/>
          <a:ln/>
        </p:spPr>
        <p:txBody>
          <a:bodyPr wrap="square" lIns="0" tIns="0" rIns="0" bIns="0" rtlCol="0" anchor="ctr"/>
          <a:lstStyle/>
          <a:p>
            <a:pPr algn="l" indent="0" marL="0">
              <a:buNone/>
            </a:pPr>
            <a:r>
              <a:rPr lang="en-US" sz="1600" b="1" dirty="0">
                <a:solidFill>
                  <a:schemeClr val="tx1"/>
                </a:solidFill>
              </a:rPr>
              <a:t>Server sends its public key</a:t>
            </a:r>
            <a:endParaRPr lang="en-US" sz="1600" dirty="0"/>
          </a:p>
        </p:txBody>
      </p:sp>
      <p:sp>
        <p:nvSpPr>
          <p:cNvPr id="13" name="Text 11"/>
          <p:cNvSpPr txBox="1"/>
          <p:nvPr/>
        </p:nvSpPr>
        <p:spPr>
          <a:xfrm>
            <a:off x="3566160" y="2834640"/>
            <a:ext cx="2286000" cy="731520"/>
          </a:xfrm>
          <a:prstGeom prst="rect">
            <a:avLst/>
          </a:prstGeom>
          <a:noFill/>
          <a:ln/>
        </p:spPr>
        <p:txBody>
          <a:bodyPr wrap="square" lIns="0" tIns="0" rIns="0" bIns="0" rtlCol="0" anchor="ctr"/>
          <a:lstStyle/>
          <a:p>
            <a:pPr algn="l" indent="0" marL="0">
              <a:buNone/>
            </a:pPr>
            <a:r>
              <a:rPr lang="en-US" sz="1300" dirty="0">
                <a:solidFill>
                  <a:schemeClr val="tx1"/>
                </a:solidFill>
              </a:rPr>
              <a:t>New 2048-bit RSA pair</a:t>
            </a:r>
            <a:endParaRPr lang="en-US" sz="1300" dirty="0"/>
          </a:p>
          <a:p>
            <a:pPr algn="l" indent="0" marL="0">
              <a:buNone/>
            </a:pPr>
            <a:r>
              <a:rPr lang="en-US" sz="1300" dirty="0">
                <a:solidFill>
                  <a:schemeClr val="tx1"/>
                </a:solidFill>
              </a:rPr>
              <a:t>per client, in (CC,…)</a:t>
            </a:r>
            <a:endParaRPr lang="en-US" sz="1300" dirty="0"/>
          </a:p>
        </p:txBody>
      </p:sp>
      <p:sp>
        <p:nvSpPr>
          <p:cNvPr id="14" name="Shape 12"/>
          <p:cNvSpPr/>
          <p:nvPr/>
        </p:nvSpPr>
        <p:spPr>
          <a:xfrm>
            <a:off x="5998464" y="2560320"/>
            <a:ext cx="210312" cy="0"/>
          </a:xfrm>
          <a:prstGeom prst="line">
            <a:avLst/>
          </a:prstGeom>
          <a:noFill/>
          <a:ln w="25400">
            <a:solidFill>
              <a:schemeClr val="accent5"/>
            </a:solidFill>
            <a:prstDash val="solid"/>
            <a:tailEnd type="triangle"/>
          </a:ln>
        </p:spPr>
      </p:sp>
      <p:sp>
        <p:nvSpPr>
          <p:cNvPr id="15" name="Shape 13"/>
          <p:cNvSpPr/>
          <p:nvPr/>
        </p:nvSpPr>
        <p:spPr>
          <a:xfrm>
            <a:off x="6217920" y="1463040"/>
            <a:ext cx="2606040" cy="2194560"/>
          </a:xfrm>
          <a:prstGeom prst="roundRect">
            <a:avLst>
              <a:gd name="adj" fmla="val 5000"/>
            </a:avLst>
          </a:prstGeom>
          <a:solidFill>
            <a:schemeClr val="bg2"/>
          </a:solidFill>
          <a:ln/>
        </p:spPr>
      </p:sp>
      <p:sp>
        <p:nvSpPr>
          <p:cNvPr id="16" name="Shape 14"/>
          <p:cNvSpPr/>
          <p:nvPr/>
        </p:nvSpPr>
        <p:spPr>
          <a:xfrm>
            <a:off x="6400800" y="1645920"/>
            <a:ext cx="502920" cy="502920"/>
          </a:xfrm>
          <a:prstGeom prst="ellipse">
            <a:avLst/>
          </a:prstGeom>
          <a:solidFill>
            <a:schemeClr val="accent2"/>
          </a:solidFill>
          <a:ln/>
        </p:spPr>
      </p:sp>
      <p:sp>
        <p:nvSpPr>
          <p:cNvPr id="17" name="Text 15"/>
          <p:cNvSpPr txBox="1"/>
          <p:nvPr/>
        </p:nvSpPr>
        <p:spPr>
          <a:xfrm>
            <a:off x="640080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6400800" y="2240280"/>
            <a:ext cx="2286000" cy="594360"/>
          </a:xfrm>
          <a:prstGeom prst="rect">
            <a:avLst/>
          </a:prstGeom>
          <a:noFill/>
          <a:ln/>
        </p:spPr>
        <p:txBody>
          <a:bodyPr wrap="square" lIns="0" tIns="0" rIns="0" bIns="0" rtlCol="0" anchor="ctr"/>
          <a:lstStyle/>
          <a:p>
            <a:pPr algn="l" indent="0" marL="0">
              <a:buNone/>
            </a:pPr>
            <a:r>
              <a:rPr lang="en-US" sz="1600" b="1" dirty="0">
                <a:solidFill>
                  <a:schemeClr val="tx1"/>
                </a:solidFill>
              </a:rPr>
              <a:t>Client locks the key</a:t>
            </a:r>
            <a:endParaRPr lang="en-US" sz="1600" dirty="0"/>
          </a:p>
        </p:txBody>
      </p:sp>
      <p:sp>
        <p:nvSpPr>
          <p:cNvPr id="19" name="Text 17"/>
          <p:cNvSpPr txBox="1"/>
          <p:nvPr/>
        </p:nvSpPr>
        <p:spPr>
          <a:xfrm>
            <a:off x="6400800" y="2834640"/>
            <a:ext cx="2286000" cy="731520"/>
          </a:xfrm>
          <a:prstGeom prst="rect">
            <a:avLst/>
          </a:prstGeom>
          <a:noFill/>
          <a:ln/>
        </p:spPr>
        <p:txBody>
          <a:bodyPr wrap="square" lIns="0" tIns="0" rIns="0" bIns="0" rtlCol="0" anchor="ctr"/>
          <a:lstStyle/>
          <a:p>
            <a:pPr algn="l" indent="0" marL="0">
              <a:buNone/>
            </a:pPr>
            <a:r>
              <a:rPr lang="en-US" sz="1300" dirty="0">
                <a:solidFill>
                  <a:schemeClr val="tx1"/>
                </a:solidFill>
              </a:rPr>
              <a:t>encrypt_session_key()</a:t>
            </a:r>
            <a:endParaRPr lang="en-US" sz="1300" dirty="0"/>
          </a:p>
          <a:p>
            <a:pPr algn="l" indent="0" marL="0">
              <a:buNone/>
            </a:pPr>
            <a:r>
              <a:rPr lang="en-US" sz="1300" dirty="0">
                <a:solidFill>
                  <a:schemeClr val="tx1"/>
                </a:solidFill>
              </a:rPr>
              <a:t>with the server PUBLIC key</a:t>
            </a:r>
            <a:endParaRPr lang="en-US" sz="1300" dirty="0"/>
          </a:p>
        </p:txBody>
      </p:sp>
      <p:sp>
        <p:nvSpPr>
          <p:cNvPr id="20" name="Shape 18"/>
          <p:cNvSpPr/>
          <p:nvPr/>
        </p:nvSpPr>
        <p:spPr>
          <a:xfrm>
            <a:off x="8833104" y="2560320"/>
            <a:ext cx="210312" cy="0"/>
          </a:xfrm>
          <a:prstGeom prst="line">
            <a:avLst/>
          </a:prstGeom>
          <a:noFill/>
          <a:ln w="25400">
            <a:solidFill>
              <a:schemeClr val="accent5"/>
            </a:solidFill>
            <a:prstDash val="solid"/>
            <a:tailEnd type="triangle"/>
          </a:ln>
        </p:spPr>
      </p:sp>
      <p:sp>
        <p:nvSpPr>
          <p:cNvPr id="21" name="Shape 19"/>
          <p:cNvSpPr/>
          <p:nvPr/>
        </p:nvSpPr>
        <p:spPr>
          <a:xfrm>
            <a:off x="9052560" y="1463040"/>
            <a:ext cx="2606040" cy="2194560"/>
          </a:xfrm>
          <a:prstGeom prst="roundRect">
            <a:avLst>
              <a:gd name="adj" fmla="val 5000"/>
            </a:avLst>
          </a:prstGeom>
          <a:solidFill>
            <a:schemeClr val="bg2"/>
          </a:solidFill>
          <a:ln/>
        </p:spPr>
      </p:sp>
      <p:sp>
        <p:nvSpPr>
          <p:cNvPr id="22" name="Shape 20"/>
          <p:cNvSpPr/>
          <p:nvPr/>
        </p:nvSpPr>
        <p:spPr>
          <a:xfrm>
            <a:off x="9235440" y="1645920"/>
            <a:ext cx="502920" cy="502920"/>
          </a:xfrm>
          <a:prstGeom prst="ellipse">
            <a:avLst/>
          </a:prstGeom>
          <a:solidFill>
            <a:schemeClr val="accent6"/>
          </a:solidFill>
          <a:ln/>
        </p:spPr>
      </p:sp>
      <p:sp>
        <p:nvSpPr>
          <p:cNvPr id="23" name="Text 21"/>
          <p:cNvSpPr txBox="1"/>
          <p:nvPr/>
        </p:nvSpPr>
        <p:spPr>
          <a:xfrm>
            <a:off x="923544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9235440" y="2240280"/>
            <a:ext cx="2286000" cy="594360"/>
          </a:xfrm>
          <a:prstGeom prst="rect">
            <a:avLst/>
          </a:prstGeom>
          <a:noFill/>
          <a:ln/>
        </p:spPr>
        <p:txBody>
          <a:bodyPr wrap="square" lIns="0" tIns="0" rIns="0" bIns="0" rtlCol="0" anchor="ctr"/>
          <a:lstStyle/>
          <a:p>
            <a:pPr algn="l" indent="0" marL="0">
              <a:buNone/>
            </a:pPr>
            <a:r>
              <a:rPr lang="en-US" sz="1600" b="1" dirty="0">
                <a:solidFill>
                  <a:schemeClr val="tx1"/>
                </a:solidFill>
              </a:rPr>
              <a:t>Server unlocks it</a:t>
            </a:r>
            <a:endParaRPr lang="en-US" sz="1600" dirty="0"/>
          </a:p>
        </p:txBody>
      </p:sp>
      <p:sp>
        <p:nvSpPr>
          <p:cNvPr id="25" name="Text 23"/>
          <p:cNvSpPr txBox="1"/>
          <p:nvPr/>
        </p:nvSpPr>
        <p:spPr>
          <a:xfrm>
            <a:off x="9235440" y="2834640"/>
            <a:ext cx="2286000" cy="731520"/>
          </a:xfrm>
          <a:prstGeom prst="rect">
            <a:avLst/>
          </a:prstGeom>
          <a:noFill/>
          <a:ln/>
        </p:spPr>
        <p:txBody>
          <a:bodyPr wrap="square" lIns="0" tIns="0" rIns="0" bIns="0" rtlCol="0" anchor="ctr"/>
          <a:lstStyle/>
          <a:p>
            <a:pPr algn="l" indent="0" marL="0">
              <a:buNone/>
            </a:pPr>
            <a:r>
              <a:rPr lang="en-US" sz="1300" dirty="0">
                <a:solidFill>
                  <a:schemeClr val="tx1"/>
                </a:solidFill>
              </a:rPr>
              <a:t>decrypt_session_key()</a:t>
            </a:r>
            <a:endParaRPr lang="en-US" sz="1300" dirty="0"/>
          </a:p>
          <a:p>
            <a:pPr algn="l" indent="0" marL="0">
              <a:buNone/>
            </a:pPr>
            <a:r>
              <a:rPr lang="en-US" sz="1300" dirty="0">
                <a:solidFill>
                  <a:schemeClr val="tx1"/>
                </a:solidFill>
              </a:rPr>
              <a:t>with its PRIVATE key</a:t>
            </a:r>
            <a:endParaRPr lang="en-US" sz="1300" dirty="0"/>
          </a:p>
        </p:txBody>
      </p:sp>
      <p:sp>
        <p:nvSpPr>
          <p:cNvPr id="26" name="Shape 24"/>
          <p:cNvSpPr/>
          <p:nvPr/>
        </p:nvSpPr>
        <p:spPr>
          <a:xfrm>
            <a:off x="548640" y="4023360"/>
            <a:ext cx="5394960" cy="1828800"/>
          </a:xfrm>
          <a:prstGeom prst="roundRect">
            <a:avLst>
              <a:gd name="adj" fmla="val 6000"/>
            </a:avLst>
          </a:prstGeom>
          <a:solidFill>
            <a:schemeClr val="accent6"/>
          </a:solidFill>
          <a:ln/>
        </p:spPr>
      </p:sp>
      <p:sp>
        <p:nvSpPr>
          <p:cNvPr id="27" name="Text 25"/>
          <p:cNvSpPr txBox="1"/>
          <p:nvPr/>
        </p:nvSpPr>
        <p:spPr>
          <a:xfrm>
            <a:off x="822960" y="4160520"/>
            <a:ext cx="4937760" cy="457200"/>
          </a:xfrm>
          <a:prstGeom prst="rect">
            <a:avLst/>
          </a:prstGeom>
          <a:noFill/>
          <a:ln/>
        </p:spPr>
        <p:txBody>
          <a:bodyPr wrap="square" lIns="0" tIns="0" rIns="0" bIns="0" rtlCol="0" anchor="ctr"/>
          <a:lstStyle/>
          <a:p>
            <a:pPr algn="l" indent="0" marL="0">
              <a:buNone/>
            </a:pPr>
            <a:r>
              <a:rPr lang="en-US" sz="1800" b="1" dirty="0">
                <a:solidFill>
                  <a:schemeClr val="bg1"/>
                </a:solidFill>
              </a:rPr>
              <a:t>RSA (asymmetric)</a:t>
            </a:r>
            <a:endParaRPr lang="en-US" sz="1800" dirty="0"/>
          </a:p>
        </p:txBody>
      </p:sp>
      <p:sp>
        <p:nvSpPr>
          <p:cNvPr id="28" name="Text 26"/>
          <p:cNvSpPr txBox="1"/>
          <p:nvPr/>
        </p:nvSpPr>
        <p:spPr>
          <a:xfrm>
            <a:off x="822960" y="4617720"/>
            <a:ext cx="4937760" cy="1371600"/>
          </a:xfrm>
          <a:prstGeom prst="rect">
            <a:avLst/>
          </a:prstGeom>
          <a:noFill/>
          <a:ln/>
        </p:spPr>
        <p:txBody>
          <a:bodyPr wrap="square" lIns="0" tIns="0" rIns="0" bIns="0" rtlCol="0" anchor="t"/>
          <a:lstStyle/>
          <a:p>
            <a:pPr algn="l" indent="0" marL="0">
              <a:buNone/>
            </a:pPr>
            <a:r>
              <a:rPr lang="en-US" sz="1500" dirty="0">
                <a:solidFill>
                  <a:schemeClr val="bg1"/>
                </a:solidFill>
              </a:rPr>
              <a:t>Two keys: public locks, private unlocks</a:t>
            </a:r>
            <a:endParaRPr lang="en-US" sz="1500" dirty="0"/>
          </a:p>
          <a:p>
            <a:pPr algn="l" indent="0" marL="0">
              <a:buNone/>
            </a:pPr>
            <a:r>
              <a:rPr lang="en-US" sz="1500" dirty="0">
                <a:solidFill>
                  <a:schemeClr val="bg1"/>
                </a:solidFill>
              </a:rPr>
              <a:t>Slow, only fits small data</a:t>
            </a:r>
            <a:endParaRPr lang="en-US" sz="1500" dirty="0"/>
          </a:p>
          <a:p>
            <a:pPr algn="l" indent="0" marL="0">
              <a:buNone/>
            </a:pPr>
            <a:r>
              <a:rPr lang="en-US" sz="1500" dirty="0">
                <a:solidFill>
                  <a:schemeClr val="bg1"/>
                </a:solidFill>
              </a:rPr>
              <a:t>Used once: to send the session key</a:t>
            </a:r>
            <a:endParaRPr lang="en-US" sz="1500" dirty="0"/>
          </a:p>
        </p:txBody>
      </p:sp>
      <p:sp>
        <p:nvSpPr>
          <p:cNvPr id="29" name="Shape 27"/>
          <p:cNvSpPr/>
          <p:nvPr/>
        </p:nvSpPr>
        <p:spPr>
          <a:xfrm>
            <a:off x="6217920" y="4023360"/>
            <a:ext cx="5394960" cy="1828800"/>
          </a:xfrm>
          <a:prstGeom prst="roundRect">
            <a:avLst>
              <a:gd name="adj" fmla="val 6000"/>
            </a:avLst>
          </a:prstGeom>
          <a:solidFill>
            <a:schemeClr val="accent1"/>
          </a:solidFill>
          <a:ln/>
        </p:spPr>
      </p:sp>
      <p:sp>
        <p:nvSpPr>
          <p:cNvPr id="30" name="Text 28"/>
          <p:cNvSpPr txBox="1"/>
          <p:nvPr/>
        </p:nvSpPr>
        <p:spPr>
          <a:xfrm>
            <a:off x="6492240" y="4160520"/>
            <a:ext cx="4937760" cy="457200"/>
          </a:xfrm>
          <a:prstGeom prst="rect">
            <a:avLst/>
          </a:prstGeom>
          <a:noFill/>
          <a:ln/>
        </p:spPr>
        <p:txBody>
          <a:bodyPr wrap="square" lIns="0" tIns="0" rIns="0" bIns="0" rtlCol="0" anchor="ctr"/>
          <a:lstStyle/>
          <a:p>
            <a:pPr algn="l" indent="0" marL="0">
              <a:buNone/>
            </a:pPr>
            <a:r>
              <a:rPr lang="en-US" sz="1800" b="1" dirty="0">
                <a:solidFill>
                  <a:schemeClr val="bg1"/>
                </a:solidFill>
              </a:rPr>
              <a:t>AES / Caesar (symmetric)</a:t>
            </a:r>
            <a:endParaRPr lang="en-US" sz="1800" dirty="0"/>
          </a:p>
        </p:txBody>
      </p:sp>
      <p:sp>
        <p:nvSpPr>
          <p:cNvPr id="31" name="Text 29"/>
          <p:cNvSpPr txBox="1"/>
          <p:nvPr/>
        </p:nvSpPr>
        <p:spPr>
          <a:xfrm>
            <a:off x="6492240" y="4617720"/>
            <a:ext cx="4937760" cy="1371600"/>
          </a:xfrm>
          <a:prstGeom prst="rect">
            <a:avLst/>
          </a:prstGeom>
          <a:noFill/>
          <a:ln/>
        </p:spPr>
        <p:txBody>
          <a:bodyPr wrap="square" lIns="0" tIns="0" rIns="0" bIns="0" rtlCol="0" anchor="t"/>
          <a:lstStyle/>
          <a:p>
            <a:pPr algn="l" indent="0" marL="0">
              <a:buNone/>
            </a:pPr>
            <a:r>
              <a:rPr lang="en-US" sz="1500" dirty="0">
                <a:solidFill>
                  <a:schemeClr val="bg1"/>
                </a:solidFill>
              </a:rPr>
              <a:t>One shared key encrypts and decrypts</a:t>
            </a:r>
            <a:endParaRPr lang="en-US" sz="1500" dirty="0"/>
          </a:p>
          <a:p>
            <a:pPr algn="l" indent="0" marL="0">
              <a:buNone/>
            </a:pPr>
            <a:r>
              <a:rPr lang="en-US" sz="1500" dirty="0">
                <a:solidFill>
                  <a:schemeClr val="bg1"/>
                </a:solidFill>
              </a:rPr>
              <a:t>Fast, good for files</a:t>
            </a:r>
            <a:endParaRPr lang="en-US" sz="1500" dirty="0"/>
          </a:p>
          <a:p>
            <a:pPr algn="l" indent="0" marL="0">
              <a:buNone/>
            </a:pPr>
            <a:r>
              <a:rPr lang="en-US" sz="1500" dirty="0">
                <a:solidFill>
                  <a:schemeClr val="bg1"/>
                </a:solidFill>
              </a:rPr>
              <a:t>Used on every DP packet</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The same file on the wire in each mode</a:t>
            </a:r>
            <a:endParaRPr lang="en-US" sz="3400" dirty="0"/>
          </a:p>
        </p:txBody>
      </p:sp>
      <p:sp>
        <p:nvSpPr>
          <p:cNvPr id="3" name="Text 1"/>
          <p:cNvSpPr txBox="1"/>
          <p:nvPr/>
        </p:nvSpPr>
        <p:spPr>
          <a:xfrm>
            <a:off x="548640" y="1325880"/>
            <a:ext cx="10972800" cy="411480"/>
          </a:xfrm>
          <a:prstGeom prst="rect">
            <a:avLst/>
          </a:prstGeom>
          <a:noFill/>
          <a:ln/>
        </p:spPr>
        <p:txBody>
          <a:bodyPr wrap="square" lIns="0" tIns="0" rIns="0" bIns="0" rtlCol="0" anchor="ctr"/>
          <a:lstStyle/>
          <a:p>
            <a:pPr algn="l" indent="0" marL="0">
              <a:buNone/>
            </a:pPr>
            <a:r>
              <a:rPr lang="en-US" sz="1700" b="1" dirty="0">
                <a:solidFill>
                  <a:schemeClr val="tx1"/>
                </a:solidFill>
                <a:latin typeface="Courier New" pitchFamily="34" charset="0"/>
                <a:ea typeface="Courier New" pitchFamily="34" charset="-122"/>
                <a:cs typeface="Courier New" pitchFamily="34" charset="-120"/>
              </a:rPr>
              <a:t>File contents:  Hello RFMP</a:t>
            </a:r>
            <a:endParaRPr lang="en-US" sz="1700" dirty="0"/>
          </a:p>
        </p:txBody>
      </p:sp>
      <p:sp>
        <p:nvSpPr>
          <p:cNvPr id="4" name="Shape 2"/>
          <p:cNvSpPr/>
          <p:nvPr/>
        </p:nvSpPr>
        <p:spPr>
          <a:xfrm>
            <a:off x="548640" y="1920240"/>
            <a:ext cx="2560320" cy="1143000"/>
          </a:xfrm>
          <a:prstGeom prst="roundRect">
            <a:avLst>
              <a:gd name="adj" fmla="val 9600"/>
            </a:avLst>
          </a:prstGeom>
          <a:solidFill>
            <a:schemeClr val="accent5"/>
          </a:solidFill>
          <a:ln/>
        </p:spPr>
      </p:sp>
      <p:sp>
        <p:nvSpPr>
          <p:cNvPr id="5" name="Text 3"/>
          <p:cNvSpPr txBox="1"/>
          <p:nvPr/>
        </p:nvSpPr>
        <p:spPr>
          <a:xfrm>
            <a:off x="548640" y="1920240"/>
            <a:ext cx="2560320" cy="1143000"/>
          </a:xfrm>
          <a:prstGeom prst="rect">
            <a:avLst/>
          </a:prstGeom>
          <a:noFill/>
          <a:ln/>
        </p:spPr>
        <p:txBody>
          <a:bodyPr wrap="square" lIns="76200" tIns="76200" rIns="76200" bIns="76200" rtlCol="0" anchor="ctr"/>
          <a:lstStyle/>
          <a:p>
            <a:pPr algn="ctr" indent="0" marL="0">
              <a:buNone/>
            </a:pPr>
            <a:r>
              <a:rPr lang="en-US" sz="1700" b="1" dirty="0">
                <a:solidFill>
                  <a:schemeClr val="bg1"/>
                </a:solidFill>
              </a:rPr>
              <a:t>NONE</a:t>
            </a:r>
            <a:endParaRPr lang="en-US" sz="1700" dirty="0"/>
          </a:p>
        </p:txBody>
      </p:sp>
      <p:sp>
        <p:nvSpPr>
          <p:cNvPr id="6" name="Shape 4"/>
          <p:cNvSpPr/>
          <p:nvPr/>
        </p:nvSpPr>
        <p:spPr>
          <a:xfrm>
            <a:off x="3291840" y="1920240"/>
            <a:ext cx="4572000" cy="1143000"/>
          </a:xfrm>
          <a:prstGeom prst="roundRect">
            <a:avLst>
              <a:gd name="adj" fmla="val 9600"/>
            </a:avLst>
          </a:prstGeom>
          <a:solidFill>
            <a:schemeClr val="tx2"/>
          </a:solidFill>
          <a:ln/>
        </p:spPr>
      </p:sp>
      <p:sp>
        <p:nvSpPr>
          <p:cNvPr id="7" name="Text 5"/>
          <p:cNvSpPr txBox="1"/>
          <p:nvPr/>
        </p:nvSpPr>
        <p:spPr>
          <a:xfrm>
            <a:off x="3291840" y="1920240"/>
            <a:ext cx="4572000" cy="1143000"/>
          </a:xfrm>
          <a:prstGeom prst="rect">
            <a:avLst/>
          </a:prstGeom>
          <a:noFill/>
          <a:ln/>
        </p:spPr>
        <p:txBody>
          <a:bodyPr wrap="square" lIns="203200" tIns="203200" rIns="203200" bIns="203200" rtlCol="0" anchor="ctr"/>
          <a:lstStyle/>
          <a:p>
            <a:pPr algn="l" indent="0" marL="0">
              <a:buNone/>
            </a:pPr>
            <a:r>
              <a:rPr lang="en-US" sz="1600" dirty="0">
                <a:solidFill>
                  <a:schemeClr val="bg1"/>
                </a:solidFill>
                <a:latin typeface="Courier New" pitchFamily="34" charset="0"/>
                <a:ea typeface="Courier New" pitchFamily="34" charset="-122"/>
                <a:cs typeface="Courier New" pitchFamily="34" charset="-120"/>
              </a:rPr>
              <a:t>Hello RFMP</a:t>
            </a:r>
            <a:endParaRPr lang="en-US" sz="1600" dirty="0"/>
          </a:p>
        </p:txBody>
      </p:sp>
      <p:sp>
        <p:nvSpPr>
          <p:cNvPr id="8" name="Text 6"/>
          <p:cNvSpPr txBox="1"/>
          <p:nvPr/>
        </p:nvSpPr>
        <p:spPr>
          <a:xfrm>
            <a:off x="8092440" y="1920240"/>
            <a:ext cx="3566160" cy="1143000"/>
          </a:xfrm>
          <a:prstGeom prst="rect">
            <a:avLst/>
          </a:prstGeom>
          <a:noFill/>
          <a:ln/>
        </p:spPr>
        <p:txBody>
          <a:bodyPr wrap="square" lIns="0" tIns="0" rIns="0" bIns="0" rtlCol="0" anchor="ctr"/>
          <a:lstStyle/>
          <a:p>
            <a:pPr algn="l" indent="0" marL="0">
              <a:buNone/>
            </a:pPr>
            <a:r>
              <a:rPr lang="en-US" sz="1500" dirty="0">
                <a:solidFill>
                  <a:schemeClr val="tx1"/>
                </a:solidFill>
              </a:rPr>
              <a:t>Readable by anyone (Base64 only)</a:t>
            </a:r>
            <a:endParaRPr lang="en-US" sz="1500" dirty="0"/>
          </a:p>
        </p:txBody>
      </p:sp>
      <p:sp>
        <p:nvSpPr>
          <p:cNvPr id="9" name="Shape 7"/>
          <p:cNvSpPr/>
          <p:nvPr/>
        </p:nvSpPr>
        <p:spPr>
          <a:xfrm>
            <a:off x="548640" y="3291840"/>
            <a:ext cx="2560320" cy="1143000"/>
          </a:xfrm>
          <a:prstGeom prst="roundRect">
            <a:avLst>
              <a:gd name="adj" fmla="val 9600"/>
            </a:avLst>
          </a:prstGeom>
          <a:solidFill>
            <a:schemeClr val="accent2"/>
          </a:solidFill>
          <a:ln/>
        </p:spPr>
      </p:sp>
      <p:sp>
        <p:nvSpPr>
          <p:cNvPr id="10" name="Text 8"/>
          <p:cNvSpPr txBox="1"/>
          <p:nvPr/>
        </p:nvSpPr>
        <p:spPr>
          <a:xfrm>
            <a:off x="548640" y="3291840"/>
            <a:ext cx="2560320" cy="1143000"/>
          </a:xfrm>
          <a:prstGeom prst="rect">
            <a:avLst/>
          </a:prstGeom>
          <a:noFill/>
          <a:ln/>
        </p:spPr>
        <p:txBody>
          <a:bodyPr wrap="square" lIns="76200" tIns="76200" rIns="76200" bIns="76200" rtlCol="0" anchor="ctr"/>
          <a:lstStyle/>
          <a:p>
            <a:pPr algn="ctr" indent="0" marL="0">
              <a:buNone/>
            </a:pPr>
            <a:r>
              <a:rPr lang="en-US" sz="1700" b="1" dirty="0">
                <a:solidFill>
                  <a:schemeClr val="bg1"/>
                </a:solidFill>
              </a:rPr>
              <a:t>CAESAR (shift 4)</a:t>
            </a:r>
            <a:endParaRPr lang="en-US" sz="1700" dirty="0"/>
          </a:p>
        </p:txBody>
      </p:sp>
      <p:sp>
        <p:nvSpPr>
          <p:cNvPr id="11" name="Shape 9"/>
          <p:cNvSpPr/>
          <p:nvPr/>
        </p:nvSpPr>
        <p:spPr>
          <a:xfrm>
            <a:off x="3291840" y="3291840"/>
            <a:ext cx="4572000" cy="1143000"/>
          </a:xfrm>
          <a:prstGeom prst="roundRect">
            <a:avLst>
              <a:gd name="adj" fmla="val 9600"/>
            </a:avLst>
          </a:prstGeom>
          <a:solidFill>
            <a:schemeClr val="tx2"/>
          </a:solidFill>
          <a:ln/>
        </p:spPr>
      </p:sp>
      <p:sp>
        <p:nvSpPr>
          <p:cNvPr id="12" name="Text 10"/>
          <p:cNvSpPr txBox="1"/>
          <p:nvPr/>
        </p:nvSpPr>
        <p:spPr>
          <a:xfrm>
            <a:off x="3291840" y="3291840"/>
            <a:ext cx="4572000" cy="1143000"/>
          </a:xfrm>
          <a:prstGeom prst="rect">
            <a:avLst/>
          </a:prstGeom>
          <a:noFill/>
          <a:ln/>
        </p:spPr>
        <p:txBody>
          <a:bodyPr wrap="square" lIns="203200" tIns="203200" rIns="203200" bIns="203200" rtlCol="0" anchor="ctr"/>
          <a:lstStyle/>
          <a:p>
            <a:pPr algn="l" indent="0" marL="0">
              <a:buNone/>
            </a:pPr>
            <a:r>
              <a:rPr lang="en-US" sz="1600" dirty="0">
                <a:solidFill>
                  <a:schemeClr val="bg1"/>
                </a:solidFill>
                <a:latin typeface="Courier New" pitchFamily="34" charset="0"/>
                <a:ea typeface="Courier New" pitchFamily="34" charset="-122"/>
                <a:cs typeface="Courier New" pitchFamily="34" charset="-120"/>
              </a:rPr>
              <a:t>Lipps VJQT</a:t>
            </a:r>
            <a:endParaRPr lang="en-US" sz="1600" dirty="0"/>
          </a:p>
        </p:txBody>
      </p:sp>
      <p:sp>
        <p:nvSpPr>
          <p:cNvPr id="13" name="Text 11"/>
          <p:cNvSpPr txBox="1"/>
          <p:nvPr/>
        </p:nvSpPr>
        <p:spPr>
          <a:xfrm>
            <a:off x="8092440" y="3291840"/>
            <a:ext cx="3566160" cy="1143000"/>
          </a:xfrm>
          <a:prstGeom prst="rect">
            <a:avLst/>
          </a:prstGeom>
          <a:noFill/>
          <a:ln/>
        </p:spPr>
        <p:txBody>
          <a:bodyPr wrap="square" lIns="0" tIns="0" rIns="0" bIns="0" rtlCol="0" anchor="ctr"/>
          <a:lstStyle/>
          <a:p>
            <a:pPr algn="l" indent="0" marL="0">
              <a:buNone/>
            </a:pPr>
            <a:r>
              <a:rPr lang="en-US" sz="1500" dirty="0">
                <a:solidFill>
                  <a:schemeClr val="tx1"/>
                </a:solidFill>
              </a:rPr>
              <a:t>Letters shifted: weak, only 25 keys</a:t>
            </a:r>
            <a:endParaRPr lang="en-US" sz="1500" dirty="0"/>
          </a:p>
        </p:txBody>
      </p:sp>
      <p:sp>
        <p:nvSpPr>
          <p:cNvPr id="14" name="Shape 12"/>
          <p:cNvSpPr/>
          <p:nvPr/>
        </p:nvSpPr>
        <p:spPr>
          <a:xfrm>
            <a:off x="548640" y="4663440"/>
            <a:ext cx="2560320" cy="1143000"/>
          </a:xfrm>
          <a:prstGeom prst="roundRect">
            <a:avLst>
              <a:gd name="adj" fmla="val 9600"/>
            </a:avLst>
          </a:prstGeom>
          <a:solidFill>
            <a:schemeClr val="accent1"/>
          </a:solidFill>
          <a:ln/>
        </p:spPr>
      </p:sp>
      <p:sp>
        <p:nvSpPr>
          <p:cNvPr id="15" name="Text 13"/>
          <p:cNvSpPr txBox="1"/>
          <p:nvPr/>
        </p:nvSpPr>
        <p:spPr>
          <a:xfrm>
            <a:off x="548640" y="4663440"/>
            <a:ext cx="2560320" cy="1143000"/>
          </a:xfrm>
          <a:prstGeom prst="rect">
            <a:avLst/>
          </a:prstGeom>
          <a:noFill/>
          <a:ln/>
        </p:spPr>
        <p:txBody>
          <a:bodyPr wrap="square" lIns="76200" tIns="76200" rIns="76200" bIns="76200" rtlCol="0" anchor="ctr"/>
          <a:lstStyle/>
          <a:p>
            <a:pPr algn="ctr" indent="0" marL="0">
              <a:buNone/>
            </a:pPr>
            <a:r>
              <a:rPr lang="en-US" sz="1700" b="1" dirty="0">
                <a:solidFill>
                  <a:schemeClr val="bg1"/>
                </a:solidFill>
              </a:rPr>
              <a:t>AES-GCM</a:t>
            </a:r>
            <a:endParaRPr lang="en-US" sz="1700" dirty="0"/>
          </a:p>
        </p:txBody>
      </p:sp>
      <p:sp>
        <p:nvSpPr>
          <p:cNvPr id="16" name="Shape 14"/>
          <p:cNvSpPr/>
          <p:nvPr/>
        </p:nvSpPr>
        <p:spPr>
          <a:xfrm>
            <a:off x="3291840" y="4663440"/>
            <a:ext cx="4572000" cy="1143000"/>
          </a:xfrm>
          <a:prstGeom prst="roundRect">
            <a:avLst>
              <a:gd name="adj" fmla="val 9600"/>
            </a:avLst>
          </a:prstGeom>
          <a:solidFill>
            <a:schemeClr val="tx2"/>
          </a:solidFill>
          <a:ln/>
        </p:spPr>
      </p:sp>
      <p:sp>
        <p:nvSpPr>
          <p:cNvPr id="17" name="Text 15"/>
          <p:cNvSpPr txBox="1"/>
          <p:nvPr/>
        </p:nvSpPr>
        <p:spPr>
          <a:xfrm>
            <a:off x="3291840" y="4663440"/>
            <a:ext cx="4572000" cy="1143000"/>
          </a:xfrm>
          <a:prstGeom prst="rect">
            <a:avLst/>
          </a:prstGeom>
          <a:noFill/>
          <a:ln/>
        </p:spPr>
        <p:txBody>
          <a:bodyPr wrap="square" lIns="203200" tIns="203200" rIns="203200" bIns="203200" rtlCol="0" anchor="ctr"/>
          <a:lstStyle/>
          <a:p>
            <a:pPr algn="l" indent="0" marL="0">
              <a:buNone/>
            </a:pPr>
            <a:r>
              <a:rPr lang="en-US" sz="1600" dirty="0">
                <a:solidFill>
                  <a:schemeClr val="bg1"/>
                </a:solidFill>
                <a:latin typeface="Courier New" pitchFamily="34" charset="0"/>
                <a:ea typeface="Courier New" pitchFamily="34" charset="-122"/>
                <a:cs typeface="Courier New" pitchFamily="34" charset="-120"/>
              </a:rPr>
              <a:t>\x16\xa0\xdc_k\x82\x85Lt\xf1f…</a:t>
            </a:r>
            <a:endParaRPr lang="en-US" sz="1600" dirty="0"/>
          </a:p>
        </p:txBody>
      </p:sp>
      <p:sp>
        <p:nvSpPr>
          <p:cNvPr id="18" name="Text 16"/>
          <p:cNvSpPr txBox="1"/>
          <p:nvPr/>
        </p:nvSpPr>
        <p:spPr>
          <a:xfrm>
            <a:off x="8092440" y="4663440"/>
            <a:ext cx="3566160" cy="1143000"/>
          </a:xfrm>
          <a:prstGeom prst="rect">
            <a:avLst/>
          </a:prstGeom>
          <a:noFill/>
          <a:ln/>
        </p:spPr>
        <p:txBody>
          <a:bodyPr wrap="square" lIns="0" tIns="0" rIns="0" bIns="0" rtlCol="0" anchor="ctr"/>
          <a:lstStyle/>
          <a:p>
            <a:pPr algn="l" indent="0" marL="0">
              <a:buNone/>
            </a:pPr>
            <a:r>
              <a:rPr lang="en-US" sz="1500" dirty="0">
                <a:solidFill>
                  <a:schemeClr val="tx1"/>
                </a:solidFill>
              </a:rPr>
              <a:t>Unreadable · new nonce each time · tag detects changes</a:t>
            </a:r>
            <a:endParaRPr lang="en-US" sz="1500" dirty="0"/>
          </a:p>
        </p:txBody>
      </p:sp>
      <p:sp>
        <p:nvSpPr>
          <p:cNvPr id="19" name="Text 17"/>
          <p:cNvSpPr txBox="1"/>
          <p:nvPr/>
        </p:nvSpPr>
        <p:spPr>
          <a:xfrm>
            <a:off x="548640" y="6080760"/>
            <a:ext cx="11064240" cy="365760"/>
          </a:xfrm>
          <a:prstGeom prst="rect">
            <a:avLst/>
          </a:prstGeom>
          <a:noFill/>
          <a:ln/>
        </p:spPr>
        <p:txBody>
          <a:bodyPr wrap="square" lIns="0" tIns="0" rIns="0" bIns="0" rtlCol="0" anchor="ctr"/>
          <a:lstStyle/>
          <a:p>
            <a:pPr algn="l" indent="0" marL="0">
              <a:buNone/>
            </a:pPr>
            <a:r>
              <a:rPr lang="en-US" sz="1200" i="1" dirty="0">
                <a:solidFill>
                  <a:schemeClr val="accent5"/>
                </a:solidFill>
              </a:rPr>
              <a:t>Real output from our test run · AES adds 28 bytes: 12-byte nonce + 16-byte authentication tag</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Server: one thread and one session per client</a:t>
            </a:r>
            <a:endParaRPr lang="en-US" sz="3400" dirty="0"/>
          </a:p>
        </p:txBody>
      </p:sp>
      <p:sp>
        <p:nvSpPr>
          <p:cNvPr id="3" name="Shape 1"/>
          <p:cNvSpPr/>
          <p:nvPr/>
        </p:nvSpPr>
        <p:spPr>
          <a:xfrm>
            <a:off x="548640" y="1417320"/>
            <a:ext cx="5760720" cy="2743200"/>
          </a:xfrm>
          <a:prstGeom prst="roundRect">
            <a:avLst>
              <a:gd name="adj" fmla="val 3333"/>
            </a:avLst>
          </a:prstGeom>
          <a:solidFill>
            <a:schemeClr val="tx2"/>
          </a:solidFill>
          <a:ln/>
        </p:spPr>
      </p:sp>
      <p:sp>
        <p:nvSpPr>
          <p:cNvPr id="4" name="Text 2"/>
          <p:cNvSpPr txBox="1"/>
          <p:nvPr/>
        </p:nvSpPr>
        <p:spPr>
          <a:xfrm>
            <a:off x="685800" y="1508760"/>
            <a:ext cx="5486400" cy="2560320"/>
          </a:xfrm>
          <a:prstGeom prst="rect">
            <a:avLst/>
          </a:prstGeom>
          <a:noFill/>
          <a:ln/>
        </p:spPr>
        <p:txBody>
          <a:bodyPr wrap="square" lIns="0" tIns="0" rIns="0" bIns="0" rtlCol="0" anchor="t"/>
          <a:lstStyle/>
          <a:p>
            <a:pPr algn="l" indent="0" marL="0">
              <a:buNone/>
            </a:pPr>
            <a:r>
              <a:rPr lang="en-US" sz="1300" dirty="0">
                <a:solidFill>
                  <a:schemeClr val="bg1"/>
                </a:solidFill>
                <a:latin typeface="Courier New" pitchFamily="34" charset="0"/>
                <a:ea typeface="Courier New" pitchFamily="34" charset="-122"/>
                <a:cs typeface="Courier New" pitchFamily="34" charset="-120"/>
              </a:rPr>
              <a:t>serversocket = socket.socket(AF_INET, SOCK_STREAM)</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serversocket.bind(("0.0.0.0", 5050))</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serversocket.listen(5)</a:t>
            </a:r>
            <a:endParaRPr lang="en-US" sz="1300" dirty="0"/>
          </a:p>
          <a:p>
            <a:pPr algn="l" indent="0" marL="0">
              <a:buNone/>
            </a:pP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while True:</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clientsocket, addr = serversocket.accept()</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thread1 = threading.Thread(</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target=handle_client,</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args=(clientsocket, addr))</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thread1.start()</a:t>
            </a:r>
            <a:endParaRPr lang="en-US" sz="1300" dirty="0"/>
          </a:p>
        </p:txBody>
      </p:sp>
      <p:sp>
        <p:nvSpPr>
          <p:cNvPr id="5" name="Shape 3"/>
          <p:cNvSpPr/>
          <p:nvPr/>
        </p:nvSpPr>
        <p:spPr>
          <a:xfrm>
            <a:off x="6766560" y="1417320"/>
            <a:ext cx="2194560" cy="640080"/>
          </a:xfrm>
          <a:prstGeom prst="roundRect">
            <a:avLst>
              <a:gd name="adj" fmla="val 17143"/>
            </a:avLst>
          </a:prstGeom>
          <a:solidFill>
            <a:schemeClr val="tx1"/>
          </a:solidFill>
          <a:ln/>
        </p:spPr>
      </p:sp>
      <p:sp>
        <p:nvSpPr>
          <p:cNvPr id="6" name="Text 4"/>
          <p:cNvSpPr txBox="1"/>
          <p:nvPr/>
        </p:nvSpPr>
        <p:spPr>
          <a:xfrm>
            <a:off x="6766560" y="1417320"/>
            <a:ext cx="2194560" cy="640080"/>
          </a:xfrm>
          <a:prstGeom prst="rect">
            <a:avLst/>
          </a:prstGeom>
          <a:noFill/>
          <a:ln/>
        </p:spPr>
        <p:txBody>
          <a:bodyPr wrap="square" lIns="76200" tIns="76200" rIns="76200" bIns="7620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accept()</a:t>
            </a:r>
            <a:endParaRPr lang="en-US" sz="1500" dirty="0"/>
          </a:p>
        </p:txBody>
      </p:sp>
      <p:sp>
        <p:nvSpPr>
          <p:cNvPr id="7" name="Shape 5"/>
          <p:cNvSpPr/>
          <p:nvPr/>
        </p:nvSpPr>
        <p:spPr>
          <a:xfrm>
            <a:off x="7863840" y="2057400"/>
            <a:ext cx="0" cy="274320"/>
          </a:xfrm>
          <a:prstGeom prst="line">
            <a:avLst/>
          </a:prstGeom>
          <a:noFill/>
          <a:ln w="19050">
            <a:solidFill>
              <a:schemeClr val="accent5"/>
            </a:solidFill>
            <a:prstDash val="solid"/>
            <a:tailEnd type="triangle"/>
          </a:ln>
        </p:spPr>
      </p:sp>
      <p:sp>
        <p:nvSpPr>
          <p:cNvPr id="8" name="Shape 6"/>
          <p:cNvSpPr/>
          <p:nvPr/>
        </p:nvSpPr>
        <p:spPr>
          <a:xfrm>
            <a:off x="6766560" y="2331720"/>
            <a:ext cx="4846320" cy="548640"/>
          </a:xfrm>
          <a:prstGeom prst="roundRect">
            <a:avLst>
              <a:gd name="adj" fmla="val 20000"/>
            </a:avLst>
          </a:prstGeom>
          <a:solidFill>
            <a:schemeClr val="accent1"/>
          </a:solidFill>
          <a:ln/>
        </p:spPr>
      </p:sp>
      <p:sp>
        <p:nvSpPr>
          <p:cNvPr id="9" name="Text 7"/>
          <p:cNvSpPr txBox="1"/>
          <p:nvPr/>
        </p:nvSpPr>
        <p:spPr>
          <a:xfrm>
            <a:off x="6766560" y="2331720"/>
            <a:ext cx="4846320" cy="548640"/>
          </a:xfrm>
          <a:prstGeom prst="rect">
            <a:avLst/>
          </a:prstGeom>
          <a:noFill/>
          <a:ln/>
        </p:spPr>
        <p:txBody>
          <a:bodyPr wrap="square" lIns="177800" tIns="177800" rIns="177800" bIns="177800" rtlCol="0" anchor="ctr"/>
          <a:lstStyle/>
          <a:p>
            <a:pPr algn="l" indent="0" marL="0">
              <a:buNone/>
            </a:pPr>
            <a:r>
              <a:rPr lang="en-US" sz="1400" dirty="0">
                <a:solidFill>
                  <a:schemeClr val="bg1"/>
                </a:solidFill>
              </a:rPr>
              <a:t>Thread A · client 1   →  own session</a:t>
            </a:r>
            <a:endParaRPr lang="en-US" sz="1400" dirty="0"/>
          </a:p>
        </p:txBody>
      </p:sp>
      <p:sp>
        <p:nvSpPr>
          <p:cNvPr id="10" name="Shape 8"/>
          <p:cNvSpPr/>
          <p:nvPr/>
        </p:nvSpPr>
        <p:spPr>
          <a:xfrm>
            <a:off x="6766560" y="2990088"/>
            <a:ext cx="4846320" cy="548640"/>
          </a:xfrm>
          <a:prstGeom prst="roundRect">
            <a:avLst>
              <a:gd name="adj" fmla="val 20000"/>
            </a:avLst>
          </a:prstGeom>
          <a:solidFill>
            <a:schemeClr val="accent4"/>
          </a:solidFill>
          <a:ln/>
        </p:spPr>
      </p:sp>
      <p:sp>
        <p:nvSpPr>
          <p:cNvPr id="11" name="Text 9"/>
          <p:cNvSpPr txBox="1"/>
          <p:nvPr/>
        </p:nvSpPr>
        <p:spPr>
          <a:xfrm>
            <a:off x="6766560" y="2990088"/>
            <a:ext cx="4846320" cy="548640"/>
          </a:xfrm>
          <a:prstGeom prst="rect">
            <a:avLst/>
          </a:prstGeom>
          <a:noFill/>
          <a:ln/>
        </p:spPr>
        <p:txBody>
          <a:bodyPr wrap="square" lIns="177800" tIns="177800" rIns="177800" bIns="177800" rtlCol="0" anchor="ctr"/>
          <a:lstStyle/>
          <a:p>
            <a:pPr algn="l" indent="0" marL="0">
              <a:buNone/>
            </a:pPr>
            <a:r>
              <a:rPr lang="en-US" sz="1400" dirty="0">
                <a:solidFill>
                  <a:schemeClr val="bg1"/>
                </a:solidFill>
              </a:rPr>
              <a:t>Thread B · client 2   →  own session</a:t>
            </a:r>
            <a:endParaRPr lang="en-US" sz="1400" dirty="0"/>
          </a:p>
        </p:txBody>
      </p:sp>
      <p:sp>
        <p:nvSpPr>
          <p:cNvPr id="12" name="Shape 10"/>
          <p:cNvSpPr/>
          <p:nvPr/>
        </p:nvSpPr>
        <p:spPr>
          <a:xfrm>
            <a:off x="6766560" y="3648456"/>
            <a:ext cx="4846320" cy="548640"/>
          </a:xfrm>
          <a:prstGeom prst="roundRect">
            <a:avLst>
              <a:gd name="adj" fmla="val 20000"/>
            </a:avLst>
          </a:prstGeom>
          <a:solidFill>
            <a:schemeClr val="accent6"/>
          </a:solidFill>
          <a:ln/>
        </p:spPr>
      </p:sp>
      <p:sp>
        <p:nvSpPr>
          <p:cNvPr id="13" name="Text 11"/>
          <p:cNvSpPr txBox="1"/>
          <p:nvPr/>
        </p:nvSpPr>
        <p:spPr>
          <a:xfrm>
            <a:off x="6766560" y="3648456"/>
            <a:ext cx="4846320" cy="548640"/>
          </a:xfrm>
          <a:prstGeom prst="rect">
            <a:avLst/>
          </a:prstGeom>
          <a:noFill/>
          <a:ln/>
        </p:spPr>
        <p:txBody>
          <a:bodyPr wrap="square" lIns="177800" tIns="177800" rIns="177800" bIns="177800" rtlCol="0" anchor="ctr"/>
          <a:lstStyle/>
          <a:p>
            <a:pPr algn="l" indent="0" marL="0">
              <a:buNone/>
            </a:pPr>
            <a:r>
              <a:rPr lang="en-US" sz="1400" dirty="0">
                <a:solidFill>
                  <a:schemeClr val="bg1"/>
                </a:solidFill>
              </a:rPr>
              <a:t>Thread C · client 3   →  own session</a:t>
            </a:r>
            <a:endParaRPr lang="en-US" sz="1400" dirty="0"/>
          </a:p>
        </p:txBody>
      </p:sp>
      <p:sp>
        <p:nvSpPr>
          <p:cNvPr id="14" name="Shape 12"/>
          <p:cNvSpPr/>
          <p:nvPr/>
        </p:nvSpPr>
        <p:spPr>
          <a:xfrm>
            <a:off x="548640" y="4434840"/>
            <a:ext cx="11064240" cy="1691640"/>
          </a:xfrm>
          <a:prstGeom prst="roundRect">
            <a:avLst>
              <a:gd name="adj" fmla="val 6486"/>
            </a:avLst>
          </a:prstGeom>
          <a:solidFill>
            <a:schemeClr val="bg2"/>
          </a:solidFill>
          <a:ln/>
        </p:spPr>
      </p:sp>
      <p:sp>
        <p:nvSpPr>
          <p:cNvPr id="15" name="Text 13"/>
          <p:cNvSpPr txBox="1"/>
          <p:nvPr/>
        </p:nvSpPr>
        <p:spPr>
          <a:xfrm>
            <a:off x="777240" y="4572000"/>
            <a:ext cx="2743200" cy="365760"/>
          </a:xfrm>
          <a:prstGeom prst="rect">
            <a:avLst/>
          </a:prstGeom>
          <a:noFill/>
          <a:ln/>
        </p:spPr>
        <p:txBody>
          <a:bodyPr wrap="square" lIns="0" tIns="0" rIns="0" bIns="0" rtlCol="0" anchor="ctr"/>
          <a:lstStyle/>
          <a:p>
            <a:pPr algn="l" indent="0" marL="0">
              <a:buNone/>
            </a:pPr>
            <a:r>
              <a:rPr lang="en-US" sz="1400" b="1" dirty="0">
                <a:solidFill>
                  <a:schemeClr val="tx1"/>
                </a:solidFill>
                <a:latin typeface="Courier New" pitchFamily="34" charset="0"/>
                <a:ea typeface="Courier New" pitchFamily="34" charset="-122"/>
                <a:cs typeface="Courier New" pitchFamily="34" charset="-120"/>
              </a:rPr>
              <a:t>session = {</a:t>
            </a:r>
            <a:endParaRPr lang="en-US" sz="1400" dirty="0"/>
          </a:p>
        </p:txBody>
      </p:sp>
      <p:sp>
        <p:nvSpPr>
          <p:cNvPr id="16" name="Text 14"/>
          <p:cNvSpPr txBox="1"/>
          <p:nvPr/>
        </p:nvSpPr>
        <p:spPr>
          <a:xfrm>
            <a:off x="1005840" y="4937760"/>
            <a:ext cx="10424160" cy="731520"/>
          </a:xfrm>
          <a:prstGeom prst="rect">
            <a:avLst/>
          </a:prstGeom>
          <a:noFill/>
          <a:ln/>
        </p:spPr>
        <p:txBody>
          <a:bodyPr wrap="square" lIns="0" tIns="0" rIns="0" bIns="0" rtlCol="0" anchor="t"/>
          <a:lstStyle/>
          <a:p>
            <a:pPr algn="l" indent="0" marL="0">
              <a:buNone/>
            </a:pPr>
            <a:r>
              <a:rPr lang="en-US" sz="1400" dirty="0">
                <a:solidFill>
                  <a:schemeClr val="tx1"/>
                </a:solidFill>
                <a:latin typeface="Courier New" pitchFamily="34" charset="0"/>
                <a:ea typeface="Courier New" pitchFamily="34" charset="-122"/>
                <a:cs typeface="Courier New" pitchFamily="34" charset="-120"/>
              </a:rPr>
              <a:t>"current_directory": SERVER_ROOT,   "mode": "NONE",   "session_key": b"",</a:t>
            </a:r>
            <a:endParaRPr lang="en-US" sz="1400" dirty="0"/>
          </a:p>
          <a:p>
            <a:pPr algn="l" indent="0" marL="0">
              <a:buNone/>
            </a:pPr>
            <a:r>
              <a:rPr lang="en-US" sz="1400" dirty="0">
                <a:solidFill>
                  <a:schemeClr val="tx1"/>
                </a:solidFill>
                <a:latin typeface="Courier New" pitchFamily="34" charset="0"/>
                <a:ea typeface="Courier New" pitchFamily="34" charset="-122"/>
                <a:cs typeface="Courier New" pitchFamily="34" charset="-120"/>
              </a:rPr>
              <a:t>"username": None,   "client_public_key": None   }</a:t>
            </a:r>
            <a:endParaRPr lang="en-US" sz="1400" dirty="0"/>
          </a:p>
        </p:txBody>
      </p:sp>
      <p:sp>
        <p:nvSpPr>
          <p:cNvPr id="17" name="Text 15"/>
          <p:cNvSpPr txBox="1"/>
          <p:nvPr/>
        </p:nvSpPr>
        <p:spPr>
          <a:xfrm>
            <a:off x="777240" y="5669280"/>
            <a:ext cx="10607040" cy="365760"/>
          </a:xfrm>
          <a:prstGeom prst="rect">
            <a:avLst/>
          </a:prstGeom>
          <a:noFill/>
          <a:ln/>
        </p:spPr>
        <p:txBody>
          <a:bodyPr wrap="square" lIns="0" tIns="0" rIns="0" bIns="0" rtlCol="0" anchor="ctr"/>
          <a:lstStyle/>
          <a:p>
            <a:pPr algn="l" indent="0" marL="0">
              <a:buNone/>
            </a:pPr>
            <a:r>
              <a:rPr lang="en-US" sz="1400" b="1" dirty="0">
                <a:solidFill>
                  <a:schemeClr val="accent1"/>
                </a:solidFill>
              </a:rPr>
              <a:t>Created inside handle_client, so each thread has its own. cd never calls os.chdir(), which would move every thread.</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handle_client: setup, operation loop, closing</a:t>
            </a:r>
            <a:endParaRPr lang="en-US" sz="3400" dirty="0"/>
          </a:p>
        </p:txBody>
      </p:sp>
      <p:sp>
        <p:nvSpPr>
          <p:cNvPr id="3" name="Shape 1"/>
          <p:cNvSpPr/>
          <p:nvPr/>
        </p:nvSpPr>
        <p:spPr>
          <a:xfrm>
            <a:off x="548640" y="1463040"/>
            <a:ext cx="3840480" cy="960120"/>
          </a:xfrm>
          <a:prstGeom prst="roundRect">
            <a:avLst>
              <a:gd name="adj" fmla="val 11429"/>
            </a:avLst>
          </a:prstGeom>
          <a:solidFill>
            <a:schemeClr val="tx1"/>
          </a:solidFill>
          <a:ln/>
        </p:spPr>
      </p:sp>
      <p:sp>
        <p:nvSpPr>
          <p:cNvPr id="4" name="Text 2"/>
          <p:cNvSpPr txBox="1"/>
          <p:nvPr/>
        </p:nvSpPr>
        <p:spPr>
          <a:xfrm>
            <a:off x="548640" y="1463040"/>
            <a:ext cx="3840480" cy="96012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Receive SS</a:t>
            </a:r>
            <a:endParaRPr lang="en-US" sz="1400" dirty="0"/>
          </a:p>
          <a:p>
            <a:pPr algn="ctr" indent="0" marL="0">
              <a:buNone/>
            </a:pPr>
            <a:r>
              <a:rPr lang="en-US" sz="1400" b="1" dirty="0">
                <a:solidFill>
                  <a:schemeClr val="bg1"/>
                </a:solidFill>
              </a:rPr>
              <a:t>check RFMP, v1.0, flag</a:t>
            </a:r>
            <a:endParaRPr lang="en-US" sz="1400" dirty="0"/>
          </a:p>
        </p:txBody>
      </p:sp>
      <p:sp>
        <p:nvSpPr>
          <p:cNvPr id="5" name="Shape 3"/>
          <p:cNvSpPr/>
          <p:nvPr/>
        </p:nvSpPr>
        <p:spPr>
          <a:xfrm>
            <a:off x="2468880" y="2423160"/>
            <a:ext cx="0" cy="274320"/>
          </a:xfrm>
          <a:prstGeom prst="line">
            <a:avLst/>
          </a:prstGeom>
          <a:noFill/>
          <a:ln w="25400">
            <a:solidFill>
              <a:schemeClr val="accent5"/>
            </a:solidFill>
            <a:prstDash val="solid"/>
            <a:tailEnd type="triangle"/>
          </a:ln>
        </p:spPr>
      </p:sp>
      <p:sp>
        <p:nvSpPr>
          <p:cNvPr id="6" name="Shape 4"/>
          <p:cNvSpPr/>
          <p:nvPr/>
        </p:nvSpPr>
        <p:spPr>
          <a:xfrm>
            <a:off x="548640" y="2697480"/>
            <a:ext cx="3840480" cy="960120"/>
          </a:xfrm>
          <a:prstGeom prst="roundRect">
            <a:avLst>
              <a:gd name="adj" fmla="val 11429"/>
            </a:avLst>
          </a:prstGeom>
          <a:solidFill>
            <a:schemeClr val="accent4"/>
          </a:solidFill>
          <a:ln/>
        </p:spPr>
      </p:sp>
      <p:sp>
        <p:nvSpPr>
          <p:cNvPr id="7" name="Text 5"/>
          <p:cNvSpPr txBox="1"/>
          <p:nvPr/>
        </p:nvSpPr>
        <p:spPr>
          <a:xfrm>
            <a:off x="548640" y="2697480"/>
            <a:ext cx="3840480" cy="96012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Flag 0 → (CC)</a:t>
            </a:r>
            <a:endParaRPr lang="en-US" sz="1400" dirty="0"/>
          </a:p>
          <a:p>
            <a:pPr algn="ctr" indent="0" marL="0">
              <a:buNone/>
            </a:pPr>
            <a:r>
              <a:rPr lang="en-US" sz="1400" b="1" dirty="0">
                <a:solidFill>
                  <a:schemeClr val="bg1"/>
                </a:solidFill>
              </a:rPr>
              <a:t>Flag 1 → secured_setup()</a:t>
            </a:r>
            <a:endParaRPr lang="en-US" sz="1400" dirty="0"/>
          </a:p>
        </p:txBody>
      </p:sp>
      <p:sp>
        <p:nvSpPr>
          <p:cNvPr id="8" name="Shape 6"/>
          <p:cNvSpPr/>
          <p:nvPr/>
        </p:nvSpPr>
        <p:spPr>
          <a:xfrm>
            <a:off x="2468880" y="3657600"/>
            <a:ext cx="0" cy="274320"/>
          </a:xfrm>
          <a:prstGeom prst="line">
            <a:avLst/>
          </a:prstGeom>
          <a:noFill/>
          <a:ln w="25400">
            <a:solidFill>
              <a:schemeClr val="accent5"/>
            </a:solidFill>
            <a:prstDash val="solid"/>
            <a:tailEnd type="triangle"/>
          </a:ln>
        </p:spPr>
      </p:sp>
      <p:sp>
        <p:nvSpPr>
          <p:cNvPr id="9" name="Shape 7"/>
          <p:cNvSpPr/>
          <p:nvPr/>
        </p:nvSpPr>
        <p:spPr>
          <a:xfrm>
            <a:off x="548640" y="3931920"/>
            <a:ext cx="3840480" cy="960120"/>
          </a:xfrm>
          <a:prstGeom prst="roundRect">
            <a:avLst>
              <a:gd name="adj" fmla="val 11429"/>
            </a:avLst>
          </a:prstGeom>
          <a:solidFill>
            <a:schemeClr val="accent1"/>
          </a:solidFill>
          <a:ln/>
        </p:spPr>
      </p:sp>
      <p:sp>
        <p:nvSpPr>
          <p:cNvPr id="10" name="Text 8"/>
          <p:cNvSpPr txBox="1"/>
          <p:nvPr/>
        </p:nvSpPr>
        <p:spPr>
          <a:xfrm>
            <a:off x="548640" y="3931920"/>
            <a:ext cx="3840480" cy="96012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Loop: receive_packet()</a:t>
            </a:r>
            <a:endParaRPr lang="en-US" sz="1400" dirty="0"/>
          </a:p>
          <a:p>
            <a:pPr algn="ctr" indent="0" marL="0">
              <a:buNone/>
            </a:pPr>
            <a:r>
              <a:rPr lang="en-US" sz="1400" b="1" dirty="0">
                <a:solidFill>
                  <a:schemeClr val="bg1"/>
                </a:solidFill>
              </a:rPr>
              <a:t>one request at a time</a:t>
            </a:r>
            <a:endParaRPr lang="en-US" sz="1400" dirty="0"/>
          </a:p>
        </p:txBody>
      </p:sp>
      <p:sp>
        <p:nvSpPr>
          <p:cNvPr id="11" name="Shape 9"/>
          <p:cNvSpPr/>
          <p:nvPr/>
        </p:nvSpPr>
        <p:spPr>
          <a:xfrm flipV="1">
            <a:off x="4389120" y="1737360"/>
            <a:ext cx="640080" cy="2606040"/>
          </a:xfrm>
          <a:prstGeom prst="line">
            <a:avLst/>
          </a:prstGeom>
          <a:noFill/>
          <a:ln w="19050">
            <a:solidFill>
              <a:schemeClr val="accent5"/>
            </a:solidFill>
            <a:prstDash val="solid"/>
            <a:tailEnd type="triangle"/>
          </a:ln>
        </p:spPr>
      </p:sp>
      <p:sp>
        <p:nvSpPr>
          <p:cNvPr id="12" name="Shape 10"/>
          <p:cNvSpPr/>
          <p:nvPr/>
        </p:nvSpPr>
        <p:spPr>
          <a:xfrm>
            <a:off x="5029200" y="1417320"/>
            <a:ext cx="2194560" cy="640080"/>
          </a:xfrm>
          <a:prstGeom prst="roundRect">
            <a:avLst>
              <a:gd name="adj" fmla="val 17143"/>
            </a:avLst>
          </a:prstGeom>
          <a:solidFill>
            <a:schemeClr val="accent1"/>
          </a:solidFill>
          <a:ln/>
        </p:spPr>
      </p:sp>
      <p:sp>
        <p:nvSpPr>
          <p:cNvPr id="13" name="Text 11"/>
          <p:cNvSpPr txBox="1"/>
          <p:nvPr/>
        </p:nvSpPr>
        <p:spPr>
          <a:xfrm>
            <a:off x="5029200" y="1417320"/>
            <a:ext cx="2194560" cy="640080"/>
          </a:xfrm>
          <a:prstGeom prst="rect">
            <a:avLst/>
          </a:prstGeom>
          <a:noFill/>
          <a:ln/>
        </p:spPr>
        <p:txBody>
          <a:bodyPr wrap="square" lIns="76200" tIns="76200" rIns="76200" bIns="7620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CM prompt</a:t>
            </a:r>
            <a:endParaRPr lang="en-US" sz="1400" dirty="0"/>
          </a:p>
        </p:txBody>
      </p:sp>
      <p:sp>
        <p:nvSpPr>
          <p:cNvPr id="14" name="Text 12"/>
          <p:cNvSpPr txBox="1"/>
          <p:nvPr/>
        </p:nvSpPr>
        <p:spPr>
          <a:xfrm>
            <a:off x="7406640" y="1417320"/>
            <a:ext cx="4206240" cy="640080"/>
          </a:xfrm>
          <a:prstGeom prst="rect">
            <a:avLst/>
          </a:prstGeom>
          <a:noFill/>
          <a:ln/>
        </p:spPr>
        <p:txBody>
          <a:bodyPr wrap="square" lIns="0" tIns="0" rIns="0" bIns="0" rtlCol="0" anchor="ctr"/>
          <a:lstStyle/>
          <a:p>
            <a:pPr algn="l" indent="0" marL="0">
              <a:buNone/>
            </a:pPr>
            <a:r>
              <a:rPr lang="en-US" sz="1500" dirty="0">
                <a:solidFill>
                  <a:schemeClr val="tx1"/>
                </a:solidFill>
                <a:latin typeface="Courier New" pitchFamily="34" charset="0"/>
                <a:ea typeface="Courier New" pitchFamily="34" charset="-122"/>
                <a:cs typeface="Courier New" pitchFamily="34" charset="-120"/>
              </a:rPr>
              <a:t>handle_prompt()</a:t>
            </a:r>
            <a:endParaRPr lang="en-US" sz="1500" dirty="0"/>
          </a:p>
        </p:txBody>
      </p:sp>
      <p:sp>
        <p:nvSpPr>
          <p:cNvPr id="15" name="Shape 13"/>
          <p:cNvSpPr/>
          <p:nvPr/>
        </p:nvSpPr>
        <p:spPr>
          <a:xfrm flipV="1">
            <a:off x="4389120" y="2578608"/>
            <a:ext cx="640080" cy="1764792"/>
          </a:xfrm>
          <a:prstGeom prst="line">
            <a:avLst/>
          </a:prstGeom>
          <a:noFill/>
          <a:ln w="19050">
            <a:solidFill>
              <a:schemeClr val="accent5"/>
            </a:solidFill>
            <a:prstDash val="solid"/>
            <a:tailEnd type="triangle"/>
          </a:ln>
        </p:spPr>
      </p:sp>
      <p:sp>
        <p:nvSpPr>
          <p:cNvPr id="16" name="Shape 14"/>
          <p:cNvSpPr/>
          <p:nvPr/>
        </p:nvSpPr>
        <p:spPr>
          <a:xfrm>
            <a:off x="5029200" y="2258568"/>
            <a:ext cx="2194560" cy="640080"/>
          </a:xfrm>
          <a:prstGeom prst="roundRect">
            <a:avLst>
              <a:gd name="adj" fmla="val 17143"/>
            </a:avLst>
          </a:prstGeom>
          <a:solidFill>
            <a:schemeClr val="accent1"/>
          </a:solidFill>
          <a:ln/>
        </p:spPr>
      </p:sp>
      <p:sp>
        <p:nvSpPr>
          <p:cNvPr id="17" name="Text 15"/>
          <p:cNvSpPr txBox="1"/>
          <p:nvPr/>
        </p:nvSpPr>
        <p:spPr>
          <a:xfrm>
            <a:off x="5029200" y="2258568"/>
            <a:ext cx="2194560" cy="640080"/>
          </a:xfrm>
          <a:prstGeom prst="rect">
            <a:avLst/>
          </a:prstGeom>
          <a:noFill/>
          <a:ln/>
        </p:spPr>
        <p:txBody>
          <a:bodyPr wrap="square" lIns="76200" tIns="76200" rIns="76200" bIns="7620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CM openRead</a:t>
            </a:r>
            <a:endParaRPr lang="en-US" sz="1400" dirty="0"/>
          </a:p>
        </p:txBody>
      </p:sp>
      <p:sp>
        <p:nvSpPr>
          <p:cNvPr id="18" name="Text 16"/>
          <p:cNvSpPr txBox="1"/>
          <p:nvPr/>
        </p:nvSpPr>
        <p:spPr>
          <a:xfrm>
            <a:off x="7406640" y="2258568"/>
            <a:ext cx="4206240" cy="640080"/>
          </a:xfrm>
          <a:prstGeom prst="rect">
            <a:avLst/>
          </a:prstGeom>
          <a:noFill/>
          <a:ln/>
        </p:spPr>
        <p:txBody>
          <a:bodyPr wrap="square" lIns="0" tIns="0" rIns="0" bIns="0" rtlCol="0" anchor="ctr"/>
          <a:lstStyle/>
          <a:p>
            <a:pPr algn="l" indent="0" marL="0">
              <a:buNone/>
            </a:pPr>
            <a:r>
              <a:rPr lang="en-US" sz="1500" dirty="0">
                <a:solidFill>
                  <a:schemeClr val="tx1"/>
                </a:solidFill>
                <a:latin typeface="Courier New" pitchFamily="34" charset="0"/>
                <a:ea typeface="Courier New" pitchFamily="34" charset="-122"/>
                <a:cs typeface="Courier New" pitchFamily="34" charset="-120"/>
              </a:rPr>
              <a:t>handle_open_read()</a:t>
            </a:r>
            <a:endParaRPr lang="en-US" sz="1500" dirty="0"/>
          </a:p>
        </p:txBody>
      </p:sp>
      <p:sp>
        <p:nvSpPr>
          <p:cNvPr id="19" name="Shape 17"/>
          <p:cNvSpPr/>
          <p:nvPr/>
        </p:nvSpPr>
        <p:spPr>
          <a:xfrm flipV="1">
            <a:off x="4389120" y="3419856"/>
            <a:ext cx="640080" cy="923544"/>
          </a:xfrm>
          <a:prstGeom prst="line">
            <a:avLst/>
          </a:prstGeom>
          <a:noFill/>
          <a:ln w="19050">
            <a:solidFill>
              <a:schemeClr val="accent5"/>
            </a:solidFill>
            <a:prstDash val="solid"/>
            <a:tailEnd type="triangle"/>
          </a:ln>
        </p:spPr>
      </p:sp>
      <p:sp>
        <p:nvSpPr>
          <p:cNvPr id="20" name="Shape 18"/>
          <p:cNvSpPr/>
          <p:nvPr/>
        </p:nvSpPr>
        <p:spPr>
          <a:xfrm>
            <a:off x="5029200" y="3099816"/>
            <a:ext cx="2194560" cy="640080"/>
          </a:xfrm>
          <a:prstGeom prst="roundRect">
            <a:avLst>
              <a:gd name="adj" fmla="val 17143"/>
            </a:avLst>
          </a:prstGeom>
          <a:solidFill>
            <a:schemeClr val="accent1"/>
          </a:solidFill>
          <a:ln/>
        </p:spPr>
      </p:sp>
      <p:sp>
        <p:nvSpPr>
          <p:cNvPr id="21" name="Text 19"/>
          <p:cNvSpPr txBox="1"/>
          <p:nvPr/>
        </p:nvSpPr>
        <p:spPr>
          <a:xfrm>
            <a:off x="5029200" y="3099816"/>
            <a:ext cx="2194560" cy="640080"/>
          </a:xfrm>
          <a:prstGeom prst="rect">
            <a:avLst/>
          </a:prstGeom>
          <a:noFill/>
          <a:ln/>
        </p:spPr>
        <p:txBody>
          <a:bodyPr wrap="square" lIns="76200" tIns="76200" rIns="76200" bIns="7620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CM openWrite</a:t>
            </a:r>
            <a:endParaRPr lang="en-US" sz="1400" dirty="0"/>
          </a:p>
        </p:txBody>
      </p:sp>
      <p:sp>
        <p:nvSpPr>
          <p:cNvPr id="22" name="Text 20"/>
          <p:cNvSpPr txBox="1"/>
          <p:nvPr/>
        </p:nvSpPr>
        <p:spPr>
          <a:xfrm>
            <a:off x="7406640" y="3099816"/>
            <a:ext cx="4206240" cy="640080"/>
          </a:xfrm>
          <a:prstGeom prst="rect">
            <a:avLst/>
          </a:prstGeom>
          <a:noFill/>
          <a:ln/>
        </p:spPr>
        <p:txBody>
          <a:bodyPr wrap="square" lIns="0" tIns="0" rIns="0" bIns="0" rtlCol="0" anchor="ctr"/>
          <a:lstStyle/>
          <a:p>
            <a:pPr algn="l" indent="0" marL="0">
              <a:buNone/>
            </a:pPr>
            <a:r>
              <a:rPr lang="en-US" sz="1500" dirty="0">
                <a:solidFill>
                  <a:schemeClr val="tx1"/>
                </a:solidFill>
                <a:latin typeface="Courier New" pitchFamily="34" charset="0"/>
                <a:ea typeface="Courier New" pitchFamily="34" charset="-122"/>
                <a:cs typeface="Courier New" pitchFamily="34" charset="-120"/>
              </a:rPr>
              <a:t>handle_open_write()</a:t>
            </a:r>
            <a:endParaRPr lang="en-US" sz="1500" dirty="0"/>
          </a:p>
        </p:txBody>
      </p:sp>
      <p:sp>
        <p:nvSpPr>
          <p:cNvPr id="23" name="Shape 21"/>
          <p:cNvSpPr/>
          <p:nvPr/>
        </p:nvSpPr>
        <p:spPr>
          <a:xfrm flipV="1">
            <a:off x="4389120" y="4261104"/>
            <a:ext cx="640080" cy="82296"/>
          </a:xfrm>
          <a:prstGeom prst="line">
            <a:avLst/>
          </a:prstGeom>
          <a:noFill/>
          <a:ln w="19050">
            <a:solidFill>
              <a:schemeClr val="accent5"/>
            </a:solidFill>
            <a:prstDash val="solid"/>
            <a:tailEnd type="triangle"/>
          </a:ln>
        </p:spPr>
      </p:sp>
      <p:sp>
        <p:nvSpPr>
          <p:cNvPr id="24" name="Shape 22"/>
          <p:cNvSpPr/>
          <p:nvPr/>
        </p:nvSpPr>
        <p:spPr>
          <a:xfrm>
            <a:off x="5029200" y="3941064"/>
            <a:ext cx="2194560" cy="640080"/>
          </a:xfrm>
          <a:prstGeom prst="roundRect">
            <a:avLst>
              <a:gd name="adj" fmla="val 17143"/>
            </a:avLst>
          </a:prstGeom>
          <a:solidFill>
            <a:schemeClr val="accent2"/>
          </a:solidFill>
          <a:ln/>
        </p:spPr>
      </p:sp>
      <p:sp>
        <p:nvSpPr>
          <p:cNvPr id="25" name="Text 23"/>
          <p:cNvSpPr txBox="1"/>
          <p:nvPr/>
        </p:nvSpPr>
        <p:spPr>
          <a:xfrm>
            <a:off x="5029200" y="3941064"/>
            <a:ext cx="2194560" cy="640080"/>
          </a:xfrm>
          <a:prstGeom prst="rect">
            <a:avLst/>
          </a:prstGeom>
          <a:noFill/>
          <a:ln/>
        </p:spPr>
        <p:txBody>
          <a:bodyPr wrap="square" lIns="76200" tIns="76200" rIns="76200" bIns="7620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End</a:t>
            </a:r>
            <a:endParaRPr lang="en-US" sz="1400" dirty="0"/>
          </a:p>
        </p:txBody>
      </p:sp>
      <p:sp>
        <p:nvSpPr>
          <p:cNvPr id="26" name="Text 24"/>
          <p:cNvSpPr txBox="1"/>
          <p:nvPr/>
        </p:nvSpPr>
        <p:spPr>
          <a:xfrm>
            <a:off x="7406640" y="3941064"/>
            <a:ext cx="4206240" cy="640080"/>
          </a:xfrm>
          <a:prstGeom prst="rect">
            <a:avLst/>
          </a:prstGeom>
          <a:noFill/>
          <a:ln/>
        </p:spPr>
        <p:txBody>
          <a:bodyPr wrap="square" lIns="0" tIns="0" rIns="0" bIns="0" rtlCol="0" anchor="ctr"/>
          <a:lstStyle/>
          <a:p>
            <a:pPr algn="l" indent="0" marL="0">
              <a:buNone/>
            </a:pPr>
            <a:r>
              <a:rPr lang="en-US" sz="1500" dirty="0">
                <a:solidFill>
                  <a:schemeClr val="tx1"/>
                </a:solidFill>
                <a:latin typeface="Courier New" pitchFamily="34" charset="0"/>
                <a:ea typeface="Courier New" pitchFamily="34" charset="-122"/>
                <a:cs typeface="Courier New" pitchFamily="34" charset="-120"/>
              </a:rPr>
              <a:t>(SC,BYE) → leave loop</a:t>
            </a:r>
            <a:endParaRPr lang="en-US" sz="1500" dirty="0"/>
          </a:p>
        </p:txBody>
      </p:sp>
      <p:sp>
        <p:nvSpPr>
          <p:cNvPr id="27" name="Shape 25"/>
          <p:cNvSpPr/>
          <p:nvPr/>
        </p:nvSpPr>
        <p:spPr>
          <a:xfrm>
            <a:off x="4389120" y="4343400"/>
            <a:ext cx="640080" cy="758952"/>
          </a:xfrm>
          <a:prstGeom prst="line">
            <a:avLst/>
          </a:prstGeom>
          <a:noFill/>
          <a:ln w="19050">
            <a:solidFill>
              <a:schemeClr val="accent5"/>
            </a:solidFill>
            <a:prstDash val="solid"/>
            <a:tailEnd type="triangle"/>
          </a:ln>
        </p:spPr>
      </p:sp>
      <p:sp>
        <p:nvSpPr>
          <p:cNvPr id="28" name="Shape 26"/>
          <p:cNvSpPr/>
          <p:nvPr/>
        </p:nvSpPr>
        <p:spPr>
          <a:xfrm>
            <a:off x="5029200" y="4782312"/>
            <a:ext cx="2194560" cy="640080"/>
          </a:xfrm>
          <a:prstGeom prst="roundRect">
            <a:avLst>
              <a:gd name="adj" fmla="val 17143"/>
            </a:avLst>
          </a:prstGeom>
          <a:solidFill>
            <a:schemeClr val="accent3"/>
          </a:solidFill>
          <a:ln/>
        </p:spPr>
      </p:sp>
      <p:sp>
        <p:nvSpPr>
          <p:cNvPr id="29" name="Text 27"/>
          <p:cNvSpPr txBox="1"/>
          <p:nvPr/>
        </p:nvSpPr>
        <p:spPr>
          <a:xfrm>
            <a:off x="5029200" y="4782312"/>
            <a:ext cx="2194560" cy="640080"/>
          </a:xfrm>
          <a:prstGeom prst="rect">
            <a:avLst/>
          </a:prstGeom>
          <a:noFill/>
          <a:ln/>
        </p:spPr>
        <p:txBody>
          <a:bodyPr wrap="square" lIns="76200" tIns="76200" rIns="76200" bIns="7620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anything else</a:t>
            </a:r>
            <a:endParaRPr lang="en-US" sz="1400" dirty="0"/>
          </a:p>
        </p:txBody>
      </p:sp>
      <p:sp>
        <p:nvSpPr>
          <p:cNvPr id="30" name="Text 28"/>
          <p:cNvSpPr txBox="1"/>
          <p:nvPr/>
        </p:nvSpPr>
        <p:spPr>
          <a:xfrm>
            <a:off x="7406640" y="4782312"/>
            <a:ext cx="4206240" cy="640080"/>
          </a:xfrm>
          <a:prstGeom prst="rect">
            <a:avLst/>
          </a:prstGeom>
          <a:noFill/>
          <a:ln/>
        </p:spPr>
        <p:txBody>
          <a:bodyPr wrap="square" lIns="0" tIns="0" rIns="0" bIns="0" rtlCol="0" anchor="ctr"/>
          <a:lstStyle/>
          <a:p>
            <a:pPr algn="l" indent="0" marL="0">
              <a:buNone/>
            </a:pPr>
            <a:r>
              <a:rPr lang="en-US" sz="1500" dirty="0">
                <a:solidFill>
                  <a:schemeClr val="tx1"/>
                </a:solidFill>
                <a:latin typeface="Courier New" pitchFamily="34" charset="0"/>
                <a:ea typeface="Courier New" pitchFamily="34" charset="-122"/>
                <a:cs typeface="Courier New" pitchFamily="34" charset="-120"/>
              </a:rPr>
              <a:t>(EE,1,…)</a:t>
            </a:r>
            <a:endParaRPr lang="en-US" sz="1500" dirty="0"/>
          </a:p>
        </p:txBody>
      </p:sp>
      <p:sp>
        <p:nvSpPr>
          <p:cNvPr id="31" name="Shape 29"/>
          <p:cNvSpPr/>
          <p:nvPr/>
        </p:nvSpPr>
        <p:spPr>
          <a:xfrm>
            <a:off x="548640" y="5623560"/>
            <a:ext cx="11064240" cy="685800"/>
          </a:xfrm>
          <a:prstGeom prst="roundRect">
            <a:avLst>
              <a:gd name="adj" fmla="val 16000"/>
            </a:avLst>
          </a:prstGeom>
          <a:solidFill>
            <a:schemeClr val="bg2"/>
          </a:solidFill>
          <a:ln/>
        </p:spPr>
      </p:sp>
      <p:sp>
        <p:nvSpPr>
          <p:cNvPr id="32" name="Text 30"/>
          <p:cNvSpPr txBox="1"/>
          <p:nvPr/>
        </p:nvSpPr>
        <p:spPr>
          <a:xfrm>
            <a:off x="548640" y="5623560"/>
            <a:ext cx="11064240" cy="685800"/>
          </a:xfrm>
          <a:prstGeom prst="rect">
            <a:avLst/>
          </a:prstGeom>
          <a:noFill/>
          <a:ln/>
        </p:spPr>
        <p:txBody>
          <a:bodyPr wrap="square" lIns="76200" tIns="76200" rIns="76200" bIns="7620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ProtocolError → (EE,1)  ·  EOFError/OSError → client left  ·  finally: socket.close()</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11 prompt commands: (CM, prompt, mkdir folder1)</a:t>
            </a:r>
            <a:endParaRPr lang="en-US" sz="3400" dirty="0"/>
          </a:p>
        </p:txBody>
      </p:sp>
      <p:sp>
        <p:nvSpPr>
          <p:cNvPr id="3" name="Shape 1"/>
          <p:cNvSpPr/>
          <p:nvPr/>
        </p:nvSpPr>
        <p:spPr>
          <a:xfrm>
            <a:off x="548640" y="1463040"/>
            <a:ext cx="2057400" cy="1188720"/>
          </a:xfrm>
          <a:prstGeom prst="roundRect">
            <a:avLst>
              <a:gd name="adj" fmla="val 9231"/>
            </a:avLst>
          </a:prstGeom>
          <a:solidFill>
            <a:schemeClr val="accent1"/>
          </a:solidFill>
          <a:ln/>
        </p:spPr>
      </p:sp>
      <p:sp>
        <p:nvSpPr>
          <p:cNvPr id="4" name="Text 2"/>
          <p:cNvSpPr txBox="1"/>
          <p:nvPr/>
        </p:nvSpPr>
        <p:spPr>
          <a:xfrm>
            <a:off x="685800" y="16002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mkdir</a:t>
            </a:r>
            <a:endParaRPr lang="en-US" sz="1800" dirty="0"/>
          </a:p>
        </p:txBody>
      </p:sp>
      <p:sp>
        <p:nvSpPr>
          <p:cNvPr id="5" name="Text 3"/>
          <p:cNvSpPr txBox="1"/>
          <p:nvPr/>
        </p:nvSpPr>
        <p:spPr>
          <a:xfrm>
            <a:off x="640080" y="21031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os.mkdir()</a:t>
            </a:r>
            <a:endParaRPr lang="en-US" sz="1300" dirty="0"/>
          </a:p>
        </p:txBody>
      </p:sp>
      <p:sp>
        <p:nvSpPr>
          <p:cNvPr id="6" name="Shape 4"/>
          <p:cNvSpPr/>
          <p:nvPr/>
        </p:nvSpPr>
        <p:spPr>
          <a:xfrm>
            <a:off x="2788920" y="1463040"/>
            <a:ext cx="2057400" cy="1188720"/>
          </a:xfrm>
          <a:prstGeom prst="roundRect">
            <a:avLst>
              <a:gd name="adj" fmla="val 9231"/>
            </a:avLst>
          </a:prstGeom>
          <a:solidFill>
            <a:schemeClr val="accent1"/>
          </a:solidFill>
          <a:ln/>
        </p:spPr>
      </p:sp>
      <p:sp>
        <p:nvSpPr>
          <p:cNvPr id="7" name="Text 5"/>
          <p:cNvSpPr txBox="1"/>
          <p:nvPr/>
        </p:nvSpPr>
        <p:spPr>
          <a:xfrm>
            <a:off x="2926080" y="16002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cd</a:t>
            </a:r>
            <a:endParaRPr lang="en-US" sz="1800" dirty="0"/>
          </a:p>
        </p:txBody>
      </p:sp>
      <p:sp>
        <p:nvSpPr>
          <p:cNvPr id="8" name="Text 6"/>
          <p:cNvSpPr txBox="1"/>
          <p:nvPr/>
        </p:nvSpPr>
        <p:spPr>
          <a:xfrm>
            <a:off x="2880360" y="21031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own folder</a:t>
            </a:r>
            <a:endParaRPr lang="en-US" sz="1300" dirty="0"/>
          </a:p>
        </p:txBody>
      </p:sp>
      <p:sp>
        <p:nvSpPr>
          <p:cNvPr id="9" name="Shape 7"/>
          <p:cNvSpPr/>
          <p:nvPr/>
        </p:nvSpPr>
        <p:spPr>
          <a:xfrm>
            <a:off x="5029200" y="1463040"/>
            <a:ext cx="2057400" cy="1188720"/>
          </a:xfrm>
          <a:prstGeom prst="roundRect">
            <a:avLst>
              <a:gd name="adj" fmla="val 9231"/>
            </a:avLst>
          </a:prstGeom>
          <a:solidFill>
            <a:schemeClr val="accent1"/>
          </a:solidFill>
          <a:ln/>
        </p:spPr>
      </p:sp>
      <p:sp>
        <p:nvSpPr>
          <p:cNvPr id="10" name="Text 8"/>
          <p:cNvSpPr txBox="1"/>
          <p:nvPr/>
        </p:nvSpPr>
        <p:spPr>
          <a:xfrm>
            <a:off x="5166360" y="16002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rmdir / rd</a:t>
            </a:r>
            <a:endParaRPr lang="en-US" sz="1800" dirty="0"/>
          </a:p>
        </p:txBody>
      </p:sp>
      <p:sp>
        <p:nvSpPr>
          <p:cNvPr id="11" name="Text 9"/>
          <p:cNvSpPr txBox="1"/>
          <p:nvPr/>
        </p:nvSpPr>
        <p:spPr>
          <a:xfrm>
            <a:off x="5120640" y="21031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os.rmdir()</a:t>
            </a:r>
            <a:endParaRPr lang="en-US" sz="1300" dirty="0"/>
          </a:p>
        </p:txBody>
      </p:sp>
      <p:sp>
        <p:nvSpPr>
          <p:cNvPr id="12" name="Shape 10"/>
          <p:cNvSpPr/>
          <p:nvPr/>
        </p:nvSpPr>
        <p:spPr>
          <a:xfrm>
            <a:off x="7269480" y="1463040"/>
            <a:ext cx="2057400" cy="1188720"/>
          </a:xfrm>
          <a:prstGeom prst="roundRect">
            <a:avLst>
              <a:gd name="adj" fmla="val 9231"/>
            </a:avLst>
          </a:prstGeom>
          <a:solidFill>
            <a:schemeClr val="accent1"/>
          </a:solidFill>
          <a:ln/>
        </p:spPr>
      </p:sp>
      <p:sp>
        <p:nvSpPr>
          <p:cNvPr id="13" name="Text 11"/>
          <p:cNvSpPr txBox="1"/>
          <p:nvPr/>
        </p:nvSpPr>
        <p:spPr>
          <a:xfrm>
            <a:off x="7406640" y="16002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del</a:t>
            </a:r>
            <a:endParaRPr lang="en-US" sz="1800" dirty="0"/>
          </a:p>
        </p:txBody>
      </p:sp>
      <p:sp>
        <p:nvSpPr>
          <p:cNvPr id="14" name="Text 12"/>
          <p:cNvSpPr txBox="1"/>
          <p:nvPr/>
        </p:nvSpPr>
        <p:spPr>
          <a:xfrm>
            <a:off x="7360920" y="21031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os.remove()</a:t>
            </a:r>
            <a:endParaRPr lang="en-US" sz="1300" dirty="0"/>
          </a:p>
        </p:txBody>
      </p:sp>
      <p:sp>
        <p:nvSpPr>
          <p:cNvPr id="15" name="Shape 13"/>
          <p:cNvSpPr/>
          <p:nvPr/>
        </p:nvSpPr>
        <p:spPr>
          <a:xfrm>
            <a:off x="9509760" y="1463040"/>
            <a:ext cx="2057400" cy="1188720"/>
          </a:xfrm>
          <a:prstGeom prst="roundRect">
            <a:avLst>
              <a:gd name="adj" fmla="val 9231"/>
            </a:avLst>
          </a:prstGeom>
          <a:solidFill>
            <a:schemeClr val="accent1"/>
          </a:solidFill>
          <a:ln/>
        </p:spPr>
      </p:sp>
      <p:sp>
        <p:nvSpPr>
          <p:cNvPr id="16" name="Text 14"/>
          <p:cNvSpPr txBox="1"/>
          <p:nvPr/>
        </p:nvSpPr>
        <p:spPr>
          <a:xfrm>
            <a:off x="9646920" y="16002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ren</a:t>
            </a:r>
            <a:endParaRPr lang="en-US" sz="1800" dirty="0"/>
          </a:p>
        </p:txBody>
      </p:sp>
      <p:sp>
        <p:nvSpPr>
          <p:cNvPr id="17" name="Text 15"/>
          <p:cNvSpPr txBox="1"/>
          <p:nvPr/>
        </p:nvSpPr>
        <p:spPr>
          <a:xfrm>
            <a:off x="9601200" y="21031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os.rename()</a:t>
            </a:r>
            <a:endParaRPr lang="en-US" sz="1300" dirty="0"/>
          </a:p>
        </p:txBody>
      </p:sp>
      <p:sp>
        <p:nvSpPr>
          <p:cNvPr id="18" name="Shape 16"/>
          <p:cNvSpPr/>
          <p:nvPr/>
        </p:nvSpPr>
        <p:spPr>
          <a:xfrm>
            <a:off x="548640" y="2834640"/>
            <a:ext cx="2057400" cy="1188720"/>
          </a:xfrm>
          <a:prstGeom prst="roundRect">
            <a:avLst>
              <a:gd name="adj" fmla="val 9231"/>
            </a:avLst>
          </a:prstGeom>
          <a:solidFill>
            <a:schemeClr val="accent6"/>
          </a:solidFill>
          <a:ln/>
        </p:spPr>
      </p:sp>
      <p:sp>
        <p:nvSpPr>
          <p:cNvPr id="19" name="Text 17"/>
          <p:cNvSpPr txBox="1"/>
          <p:nvPr/>
        </p:nvSpPr>
        <p:spPr>
          <a:xfrm>
            <a:off x="685800" y="29718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ls</a:t>
            </a:r>
            <a:endParaRPr lang="en-US" sz="1800" dirty="0"/>
          </a:p>
        </p:txBody>
      </p:sp>
      <p:sp>
        <p:nvSpPr>
          <p:cNvPr id="20" name="Text 18"/>
          <p:cNvSpPr txBox="1"/>
          <p:nvPr/>
        </p:nvSpPr>
        <p:spPr>
          <a:xfrm>
            <a:off x="640080" y="34747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os.listdir()</a:t>
            </a:r>
            <a:endParaRPr lang="en-US" sz="1300" dirty="0"/>
          </a:p>
        </p:txBody>
      </p:sp>
      <p:sp>
        <p:nvSpPr>
          <p:cNvPr id="21" name="Shape 19"/>
          <p:cNvSpPr/>
          <p:nvPr/>
        </p:nvSpPr>
        <p:spPr>
          <a:xfrm>
            <a:off x="2788920" y="2834640"/>
            <a:ext cx="2057400" cy="1188720"/>
          </a:xfrm>
          <a:prstGeom prst="roundRect">
            <a:avLst>
              <a:gd name="adj" fmla="val 9231"/>
            </a:avLst>
          </a:prstGeom>
          <a:solidFill>
            <a:schemeClr val="accent6"/>
          </a:solidFill>
          <a:ln/>
        </p:spPr>
      </p:sp>
      <p:sp>
        <p:nvSpPr>
          <p:cNvPr id="22" name="Text 20"/>
          <p:cNvSpPr txBox="1"/>
          <p:nvPr/>
        </p:nvSpPr>
        <p:spPr>
          <a:xfrm>
            <a:off x="2926080" y="29718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pwd</a:t>
            </a:r>
            <a:endParaRPr lang="en-US" sz="1800" dirty="0"/>
          </a:p>
        </p:txBody>
      </p:sp>
      <p:sp>
        <p:nvSpPr>
          <p:cNvPr id="23" name="Text 21"/>
          <p:cNvSpPr txBox="1"/>
          <p:nvPr/>
        </p:nvSpPr>
        <p:spPr>
          <a:xfrm>
            <a:off x="2880360" y="34747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own folder</a:t>
            </a:r>
            <a:endParaRPr lang="en-US" sz="1300" dirty="0"/>
          </a:p>
        </p:txBody>
      </p:sp>
      <p:sp>
        <p:nvSpPr>
          <p:cNvPr id="24" name="Shape 22"/>
          <p:cNvSpPr/>
          <p:nvPr/>
        </p:nvSpPr>
        <p:spPr>
          <a:xfrm>
            <a:off x="5029200" y="2834640"/>
            <a:ext cx="2057400" cy="1188720"/>
          </a:xfrm>
          <a:prstGeom prst="roundRect">
            <a:avLst>
              <a:gd name="adj" fmla="val 9231"/>
            </a:avLst>
          </a:prstGeom>
          <a:solidFill>
            <a:schemeClr val="accent6"/>
          </a:solidFill>
          <a:ln/>
        </p:spPr>
      </p:sp>
      <p:sp>
        <p:nvSpPr>
          <p:cNvPr id="25" name="Text 23"/>
          <p:cNvSpPr txBox="1"/>
          <p:nvPr/>
        </p:nvSpPr>
        <p:spPr>
          <a:xfrm>
            <a:off x="5166360" y="29718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whoami</a:t>
            </a:r>
            <a:endParaRPr lang="en-US" sz="1800" dirty="0"/>
          </a:p>
        </p:txBody>
      </p:sp>
      <p:sp>
        <p:nvSpPr>
          <p:cNvPr id="26" name="Text 24"/>
          <p:cNvSpPr txBox="1"/>
          <p:nvPr/>
        </p:nvSpPr>
        <p:spPr>
          <a:xfrm>
            <a:off x="5120640" y="34747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subprocess.run()</a:t>
            </a:r>
            <a:endParaRPr lang="en-US" sz="1300" dirty="0"/>
          </a:p>
        </p:txBody>
      </p:sp>
      <p:sp>
        <p:nvSpPr>
          <p:cNvPr id="27" name="Shape 25"/>
          <p:cNvSpPr/>
          <p:nvPr/>
        </p:nvSpPr>
        <p:spPr>
          <a:xfrm>
            <a:off x="7269480" y="2834640"/>
            <a:ext cx="2057400" cy="1188720"/>
          </a:xfrm>
          <a:prstGeom prst="roundRect">
            <a:avLst>
              <a:gd name="adj" fmla="val 9231"/>
            </a:avLst>
          </a:prstGeom>
          <a:solidFill>
            <a:schemeClr val="accent6"/>
          </a:solidFill>
          <a:ln/>
        </p:spPr>
      </p:sp>
      <p:sp>
        <p:nvSpPr>
          <p:cNvPr id="28" name="Text 26"/>
          <p:cNvSpPr txBox="1"/>
          <p:nvPr/>
        </p:nvSpPr>
        <p:spPr>
          <a:xfrm>
            <a:off x="7406640" y="29718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hostname</a:t>
            </a:r>
            <a:endParaRPr lang="en-US" sz="1800" dirty="0"/>
          </a:p>
        </p:txBody>
      </p:sp>
      <p:sp>
        <p:nvSpPr>
          <p:cNvPr id="29" name="Text 27"/>
          <p:cNvSpPr txBox="1"/>
          <p:nvPr/>
        </p:nvSpPr>
        <p:spPr>
          <a:xfrm>
            <a:off x="7360920" y="34747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subprocess.run()</a:t>
            </a:r>
            <a:endParaRPr lang="en-US" sz="1300" dirty="0"/>
          </a:p>
        </p:txBody>
      </p:sp>
      <p:sp>
        <p:nvSpPr>
          <p:cNvPr id="30" name="Shape 28"/>
          <p:cNvSpPr/>
          <p:nvPr/>
        </p:nvSpPr>
        <p:spPr>
          <a:xfrm>
            <a:off x="9509760" y="2834640"/>
            <a:ext cx="2057400" cy="1188720"/>
          </a:xfrm>
          <a:prstGeom prst="roundRect">
            <a:avLst>
              <a:gd name="adj" fmla="val 9231"/>
            </a:avLst>
          </a:prstGeom>
          <a:solidFill>
            <a:schemeClr val="accent6"/>
          </a:solidFill>
          <a:ln/>
        </p:spPr>
      </p:sp>
      <p:sp>
        <p:nvSpPr>
          <p:cNvPr id="31" name="Text 29"/>
          <p:cNvSpPr txBox="1"/>
          <p:nvPr/>
        </p:nvSpPr>
        <p:spPr>
          <a:xfrm>
            <a:off x="9646920" y="29718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date</a:t>
            </a:r>
            <a:endParaRPr lang="en-US" sz="1800" dirty="0"/>
          </a:p>
        </p:txBody>
      </p:sp>
      <p:sp>
        <p:nvSpPr>
          <p:cNvPr id="32" name="Text 30"/>
          <p:cNvSpPr txBox="1"/>
          <p:nvPr/>
        </p:nvSpPr>
        <p:spPr>
          <a:xfrm>
            <a:off x="9601200" y="34747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time.ctime()</a:t>
            </a:r>
            <a:endParaRPr lang="en-US" sz="1300" dirty="0"/>
          </a:p>
        </p:txBody>
      </p:sp>
      <p:sp>
        <p:nvSpPr>
          <p:cNvPr id="33" name="Shape 31"/>
          <p:cNvSpPr/>
          <p:nvPr/>
        </p:nvSpPr>
        <p:spPr>
          <a:xfrm>
            <a:off x="548640" y="4343400"/>
            <a:ext cx="320040" cy="320040"/>
          </a:xfrm>
          <a:prstGeom prst="roundRect">
            <a:avLst>
              <a:gd name="adj" fmla="val 14286"/>
            </a:avLst>
          </a:prstGeom>
          <a:solidFill>
            <a:schemeClr val="accent1"/>
          </a:solidFill>
          <a:ln/>
        </p:spPr>
      </p:sp>
      <p:sp>
        <p:nvSpPr>
          <p:cNvPr id="34" name="Text 32"/>
          <p:cNvSpPr txBox="1"/>
          <p:nvPr/>
        </p:nvSpPr>
        <p:spPr>
          <a:xfrm>
            <a:off x="960120" y="4343400"/>
            <a:ext cx="2926080" cy="320040"/>
          </a:xfrm>
          <a:prstGeom prst="rect">
            <a:avLst/>
          </a:prstGeom>
          <a:noFill/>
          <a:ln/>
        </p:spPr>
        <p:txBody>
          <a:bodyPr wrap="square" lIns="0" tIns="0" rIns="0" bIns="0" rtlCol="0" anchor="ctr"/>
          <a:lstStyle/>
          <a:p>
            <a:pPr algn="l" indent="0" marL="0">
              <a:buNone/>
            </a:pPr>
            <a:r>
              <a:rPr lang="en-US" sz="1300" dirty="0">
                <a:solidFill>
                  <a:schemeClr val="tx1"/>
                </a:solidFill>
              </a:rPr>
              <a:t>Required by the assignment</a:t>
            </a:r>
            <a:endParaRPr lang="en-US" sz="1300" dirty="0"/>
          </a:p>
        </p:txBody>
      </p:sp>
      <p:sp>
        <p:nvSpPr>
          <p:cNvPr id="35" name="Shape 33"/>
          <p:cNvSpPr/>
          <p:nvPr/>
        </p:nvSpPr>
        <p:spPr>
          <a:xfrm>
            <a:off x="3931920" y="4343400"/>
            <a:ext cx="320040" cy="320040"/>
          </a:xfrm>
          <a:prstGeom prst="roundRect">
            <a:avLst>
              <a:gd name="adj" fmla="val 14286"/>
            </a:avLst>
          </a:prstGeom>
          <a:solidFill>
            <a:schemeClr val="accent6"/>
          </a:solidFill>
          <a:ln/>
        </p:spPr>
      </p:sp>
      <p:sp>
        <p:nvSpPr>
          <p:cNvPr id="36" name="Text 34"/>
          <p:cNvSpPr txBox="1"/>
          <p:nvPr/>
        </p:nvSpPr>
        <p:spPr>
          <a:xfrm>
            <a:off x="4343400" y="4343400"/>
            <a:ext cx="2926080" cy="320040"/>
          </a:xfrm>
          <a:prstGeom prst="rect">
            <a:avLst/>
          </a:prstGeom>
          <a:noFill/>
          <a:ln/>
        </p:spPr>
        <p:txBody>
          <a:bodyPr wrap="square" lIns="0" tIns="0" rIns="0" bIns="0" rtlCol="0" anchor="ctr"/>
          <a:lstStyle/>
          <a:p>
            <a:pPr algn="l" indent="0" marL="0">
              <a:buNone/>
            </a:pPr>
            <a:r>
              <a:rPr lang="en-US" sz="1300" dirty="0">
                <a:solidFill>
                  <a:schemeClr val="tx1"/>
                </a:solidFill>
              </a:rPr>
              <a:t>Our 5 extra commands</a:t>
            </a:r>
            <a:endParaRPr lang="en-US" sz="1300" dirty="0"/>
          </a:p>
        </p:txBody>
      </p:sp>
      <p:sp>
        <p:nvSpPr>
          <p:cNvPr id="37" name="Shape 35"/>
          <p:cNvSpPr/>
          <p:nvPr/>
        </p:nvSpPr>
        <p:spPr>
          <a:xfrm>
            <a:off x="548640" y="4846320"/>
            <a:ext cx="11064240" cy="1051560"/>
          </a:xfrm>
          <a:prstGeom prst="roundRect">
            <a:avLst>
              <a:gd name="adj" fmla="val 8696"/>
            </a:avLst>
          </a:prstGeom>
          <a:solidFill>
            <a:schemeClr val="tx2"/>
          </a:solidFill>
          <a:ln/>
        </p:spPr>
      </p:sp>
      <p:sp>
        <p:nvSpPr>
          <p:cNvPr id="38" name="Text 36"/>
          <p:cNvSpPr txBox="1"/>
          <p:nvPr/>
        </p:nvSpPr>
        <p:spPr>
          <a:xfrm>
            <a:off x="685800" y="4937760"/>
            <a:ext cx="10789920" cy="868680"/>
          </a:xfrm>
          <a:prstGeom prst="rect">
            <a:avLst/>
          </a:prstGeom>
          <a:noFill/>
          <a:ln/>
        </p:spPr>
        <p:txBody>
          <a:bodyPr wrap="square" lIns="0" tIns="0" rIns="0" bIns="0" rtlCol="0" anchor="t"/>
          <a:lstStyle/>
          <a:p>
            <a:pPr algn="l" indent="0" marL="0">
              <a:buNone/>
            </a:pPr>
            <a:r>
              <a:rPr lang="en-US" sz="1300" dirty="0">
                <a:solidFill>
                  <a:schemeClr val="bg1"/>
                </a:solidFill>
                <a:latin typeface="Courier New" pitchFamily="34" charset="0"/>
                <a:ea typeface="Courier New" pitchFamily="34" charset="-122"/>
                <a:cs typeface="Courier New" pitchFamily="34" charset="-120"/>
              </a:rPr>
              <a:t>words = decode_field(command_field).decode().split()     # "ren a b" -&gt; ["ren","a","b"]</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output = run_command(session, words)                     # (SC, output)</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except ValueError -&gt; (EE,3,…)    except OSError -&gt; (EE,2, e.strerror)</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openRead and openWrite: files with encryption</a:t>
            </a:r>
            <a:endParaRPr lang="en-US" sz="3400" dirty="0"/>
          </a:p>
        </p:txBody>
      </p:sp>
      <p:sp>
        <p:nvSpPr>
          <p:cNvPr id="3" name="Text 1"/>
          <p:cNvSpPr txBox="1"/>
          <p:nvPr/>
        </p:nvSpPr>
        <p:spPr>
          <a:xfrm>
            <a:off x="548640" y="1280160"/>
            <a:ext cx="5303520" cy="365760"/>
          </a:xfrm>
          <a:prstGeom prst="rect">
            <a:avLst/>
          </a:prstGeom>
          <a:noFill/>
          <a:ln/>
        </p:spPr>
        <p:txBody>
          <a:bodyPr wrap="square" lIns="0" tIns="0" rIns="0" bIns="0" rtlCol="0" anchor="ctr"/>
          <a:lstStyle/>
          <a:p>
            <a:pPr algn="l" indent="0" marL="0">
              <a:buNone/>
            </a:pPr>
            <a:r>
              <a:rPr lang="en-US" sz="1700" b="1" dirty="0">
                <a:solidFill>
                  <a:schemeClr val="accent4"/>
                </a:solidFill>
              </a:rPr>
              <a:t>openRead (download)</a:t>
            </a:r>
            <a:endParaRPr lang="en-US" sz="1700" dirty="0"/>
          </a:p>
        </p:txBody>
      </p:sp>
      <p:sp>
        <p:nvSpPr>
          <p:cNvPr id="4" name="Shape 2"/>
          <p:cNvSpPr/>
          <p:nvPr/>
        </p:nvSpPr>
        <p:spPr>
          <a:xfrm>
            <a:off x="548640" y="1737360"/>
            <a:ext cx="1463040" cy="457200"/>
          </a:xfrm>
          <a:prstGeom prst="roundRect">
            <a:avLst>
              <a:gd name="adj" fmla="val 24000"/>
            </a:avLst>
          </a:prstGeom>
          <a:solidFill>
            <a:schemeClr val="tx1"/>
          </a:solidFill>
          <a:ln/>
        </p:spPr>
      </p:sp>
      <p:sp>
        <p:nvSpPr>
          <p:cNvPr id="5" name="Text 3"/>
          <p:cNvSpPr txBox="1"/>
          <p:nvPr/>
        </p:nvSpPr>
        <p:spPr>
          <a:xfrm>
            <a:off x="54864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Client</a:t>
            </a:r>
            <a:endParaRPr lang="en-US" sz="1400" dirty="0"/>
          </a:p>
        </p:txBody>
      </p:sp>
      <p:sp>
        <p:nvSpPr>
          <p:cNvPr id="6" name="Shape 4"/>
          <p:cNvSpPr/>
          <p:nvPr/>
        </p:nvSpPr>
        <p:spPr>
          <a:xfrm>
            <a:off x="4389120" y="1737360"/>
            <a:ext cx="1463040" cy="457200"/>
          </a:xfrm>
          <a:prstGeom prst="roundRect">
            <a:avLst>
              <a:gd name="adj" fmla="val 24000"/>
            </a:avLst>
          </a:prstGeom>
          <a:solidFill>
            <a:schemeClr val="tx1"/>
          </a:solidFill>
          <a:ln/>
        </p:spPr>
      </p:sp>
      <p:sp>
        <p:nvSpPr>
          <p:cNvPr id="7" name="Text 5"/>
          <p:cNvSpPr txBox="1"/>
          <p:nvPr/>
        </p:nvSpPr>
        <p:spPr>
          <a:xfrm>
            <a:off x="438912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Server</a:t>
            </a:r>
            <a:endParaRPr lang="en-US" sz="1400" dirty="0"/>
          </a:p>
        </p:txBody>
      </p:sp>
      <p:sp>
        <p:nvSpPr>
          <p:cNvPr id="8" name="Shape 6"/>
          <p:cNvSpPr/>
          <p:nvPr/>
        </p:nvSpPr>
        <p:spPr>
          <a:xfrm>
            <a:off x="1280160" y="2194560"/>
            <a:ext cx="0" cy="2286000"/>
          </a:xfrm>
          <a:prstGeom prst="line">
            <a:avLst/>
          </a:prstGeom>
          <a:noFill/>
          <a:ln w="12700">
            <a:solidFill>
              <a:schemeClr val="accent5"/>
            </a:solidFill>
            <a:prstDash val="dash"/>
          </a:ln>
        </p:spPr>
      </p:sp>
      <p:sp>
        <p:nvSpPr>
          <p:cNvPr id="9" name="Shape 7"/>
          <p:cNvSpPr/>
          <p:nvPr/>
        </p:nvSpPr>
        <p:spPr>
          <a:xfrm>
            <a:off x="5120640" y="2194560"/>
            <a:ext cx="0" cy="2286000"/>
          </a:xfrm>
          <a:prstGeom prst="line">
            <a:avLst/>
          </a:prstGeom>
          <a:noFill/>
          <a:ln w="12700">
            <a:solidFill>
              <a:schemeClr val="accent5"/>
            </a:solidFill>
            <a:prstDash val="dash"/>
          </a:ln>
        </p:spPr>
      </p:sp>
      <p:sp>
        <p:nvSpPr>
          <p:cNvPr id="10" name="Shape 8"/>
          <p:cNvSpPr/>
          <p:nvPr/>
        </p:nvSpPr>
        <p:spPr>
          <a:xfrm>
            <a:off x="1280160" y="2514600"/>
            <a:ext cx="3840480" cy="0"/>
          </a:xfrm>
          <a:prstGeom prst="line">
            <a:avLst/>
          </a:prstGeom>
          <a:noFill/>
          <a:ln w="25400">
            <a:solidFill>
              <a:schemeClr val="accent1"/>
            </a:solidFill>
            <a:prstDash val="solid"/>
            <a:tailEnd type="triangle"/>
          </a:ln>
        </p:spPr>
      </p:sp>
      <p:sp>
        <p:nvSpPr>
          <p:cNvPr id="11" name="Text 9"/>
          <p:cNvSpPr txBox="1"/>
          <p:nvPr/>
        </p:nvSpPr>
        <p:spPr>
          <a:xfrm>
            <a:off x="1417320" y="2185416"/>
            <a:ext cx="3566160" cy="292608"/>
          </a:xfrm>
          <a:prstGeom prst="rect">
            <a:avLst/>
          </a:prstGeom>
          <a:noFill/>
          <a:ln/>
        </p:spPr>
        <p:txBody>
          <a:bodyPr wrap="square" lIns="0" tIns="0" rIns="0" bIns="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(CM, openRead, s.txt)</a:t>
            </a:r>
            <a:endParaRPr lang="en-US" sz="1200" dirty="0"/>
          </a:p>
        </p:txBody>
      </p:sp>
      <p:sp>
        <p:nvSpPr>
          <p:cNvPr id="12" name="Shape 10"/>
          <p:cNvSpPr/>
          <p:nvPr/>
        </p:nvSpPr>
        <p:spPr>
          <a:xfrm flipH="1">
            <a:off x="1280160" y="3215640"/>
            <a:ext cx="3840480" cy="0"/>
          </a:xfrm>
          <a:prstGeom prst="line">
            <a:avLst/>
          </a:prstGeom>
          <a:noFill/>
          <a:ln w="25400">
            <a:solidFill>
              <a:schemeClr val="accent2"/>
            </a:solidFill>
            <a:prstDash val="solid"/>
            <a:tailEnd type="triangle"/>
          </a:ln>
        </p:spPr>
      </p:sp>
      <p:sp>
        <p:nvSpPr>
          <p:cNvPr id="13" name="Text 11"/>
          <p:cNvSpPr txBox="1"/>
          <p:nvPr/>
        </p:nvSpPr>
        <p:spPr>
          <a:xfrm>
            <a:off x="1417320" y="2886456"/>
            <a:ext cx="3566160" cy="292608"/>
          </a:xfrm>
          <a:prstGeom prst="rect">
            <a:avLst/>
          </a:prstGeom>
          <a:noFill/>
          <a:ln/>
        </p:spPr>
        <p:txBody>
          <a:bodyPr wrap="square" lIns="0" tIns="0" rIns="0" bIns="0" rtlCol="0" anchor="ctr"/>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(DP, encrypt(file))</a:t>
            </a:r>
            <a:endParaRPr lang="en-US" sz="1200" dirty="0"/>
          </a:p>
        </p:txBody>
      </p:sp>
      <p:sp>
        <p:nvSpPr>
          <p:cNvPr id="14" name="Shape 12"/>
          <p:cNvSpPr/>
          <p:nvPr/>
        </p:nvSpPr>
        <p:spPr>
          <a:xfrm flipH="1">
            <a:off x="1280160" y="3916680"/>
            <a:ext cx="3840480" cy="0"/>
          </a:xfrm>
          <a:prstGeom prst="line">
            <a:avLst/>
          </a:prstGeom>
          <a:noFill/>
          <a:ln w="25400">
            <a:solidFill>
              <a:schemeClr val="accent4"/>
            </a:solidFill>
            <a:prstDash val="solid"/>
            <a:tailEnd type="triangle"/>
          </a:ln>
        </p:spPr>
      </p:sp>
      <p:sp>
        <p:nvSpPr>
          <p:cNvPr id="15" name="Text 13"/>
          <p:cNvSpPr txBox="1"/>
          <p:nvPr/>
        </p:nvSpPr>
        <p:spPr>
          <a:xfrm>
            <a:off x="1417320" y="3587496"/>
            <a:ext cx="3566160" cy="292608"/>
          </a:xfrm>
          <a:prstGeom prst="rect">
            <a:avLst/>
          </a:prstGeom>
          <a:noFill/>
          <a:ln/>
        </p:spPr>
        <p:txBody>
          <a:bodyPr wrap="square" lIns="0" tIns="0" rIns="0" bIns="0" rtlCol="0" anchor="ctr"/>
          <a:lstStyle/>
          <a:p>
            <a:pPr algn="ctr" indent="0" marL="0">
              <a:buNone/>
            </a:pPr>
            <a:r>
              <a:rPr lang="en-US" sz="1200" b="1" dirty="0">
                <a:solidFill>
                  <a:schemeClr val="accent4"/>
                </a:solidFill>
                <a:latin typeface="Courier New" pitchFamily="34" charset="0"/>
                <a:ea typeface="Courier New" pitchFamily="34" charset="-122"/>
                <a:cs typeface="Courier New" pitchFamily="34" charset="-120"/>
              </a:rPr>
              <a:t>(SC, READ_COMPLETE)</a:t>
            </a:r>
            <a:endParaRPr lang="en-US" sz="1200" dirty="0"/>
          </a:p>
        </p:txBody>
      </p:sp>
      <p:sp>
        <p:nvSpPr>
          <p:cNvPr id="16" name="Text 14"/>
          <p:cNvSpPr txBox="1"/>
          <p:nvPr/>
        </p:nvSpPr>
        <p:spPr>
          <a:xfrm>
            <a:off x="6309360" y="1280160"/>
            <a:ext cx="5303520" cy="365760"/>
          </a:xfrm>
          <a:prstGeom prst="rect">
            <a:avLst/>
          </a:prstGeom>
          <a:noFill/>
          <a:ln/>
        </p:spPr>
        <p:txBody>
          <a:bodyPr wrap="square" lIns="0" tIns="0" rIns="0" bIns="0" rtlCol="0" anchor="ctr"/>
          <a:lstStyle/>
          <a:p>
            <a:pPr algn="l" indent="0" marL="0">
              <a:buNone/>
            </a:pPr>
            <a:r>
              <a:rPr lang="en-US" sz="1700" b="1" dirty="0">
                <a:solidFill>
                  <a:schemeClr val="accent1"/>
                </a:solidFill>
              </a:rPr>
              <a:t>openWrite (upload)</a:t>
            </a:r>
            <a:endParaRPr lang="en-US" sz="1700" dirty="0"/>
          </a:p>
        </p:txBody>
      </p:sp>
      <p:sp>
        <p:nvSpPr>
          <p:cNvPr id="17" name="Shape 15"/>
          <p:cNvSpPr/>
          <p:nvPr/>
        </p:nvSpPr>
        <p:spPr>
          <a:xfrm>
            <a:off x="6309360" y="1737360"/>
            <a:ext cx="1463040" cy="457200"/>
          </a:xfrm>
          <a:prstGeom prst="roundRect">
            <a:avLst>
              <a:gd name="adj" fmla="val 24000"/>
            </a:avLst>
          </a:prstGeom>
          <a:solidFill>
            <a:schemeClr val="tx1"/>
          </a:solidFill>
          <a:ln/>
        </p:spPr>
      </p:sp>
      <p:sp>
        <p:nvSpPr>
          <p:cNvPr id="18" name="Text 16"/>
          <p:cNvSpPr txBox="1"/>
          <p:nvPr/>
        </p:nvSpPr>
        <p:spPr>
          <a:xfrm>
            <a:off x="630936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Client</a:t>
            </a:r>
            <a:endParaRPr lang="en-US" sz="1400" dirty="0"/>
          </a:p>
        </p:txBody>
      </p:sp>
      <p:sp>
        <p:nvSpPr>
          <p:cNvPr id="19" name="Shape 17"/>
          <p:cNvSpPr/>
          <p:nvPr/>
        </p:nvSpPr>
        <p:spPr>
          <a:xfrm>
            <a:off x="10149840" y="1737360"/>
            <a:ext cx="1463040" cy="457200"/>
          </a:xfrm>
          <a:prstGeom prst="roundRect">
            <a:avLst>
              <a:gd name="adj" fmla="val 24000"/>
            </a:avLst>
          </a:prstGeom>
          <a:solidFill>
            <a:schemeClr val="tx1"/>
          </a:solidFill>
          <a:ln/>
        </p:spPr>
      </p:sp>
      <p:sp>
        <p:nvSpPr>
          <p:cNvPr id="20" name="Text 18"/>
          <p:cNvSpPr txBox="1"/>
          <p:nvPr/>
        </p:nvSpPr>
        <p:spPr>
          <a:xfrm>
            <a:off x="1014984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Server</a:t>
            </a:r>
            <a:endParaRPr lang="en-US" sz="1400" dirty="0"/>
          </a:p>
        </p:txBody>
      </p:sp>
      <p:sp>
        <p:nvSpPr>
          <p:cNvPr id="21" name="Shape 19"/>
          <p:cNvSpPr/>
          <p:nvPr/>
        </p:nvSpPr>
        <p:spPr>
          <a:xfrm>
            <a:off x="7040880" y="2194560"/>
            <a:ext cx="0" cy="2286000"/>
          </a:xfrm>
          <a:prstGeom prst="line">
            <a:avLst/>
          </a:prstGeom>
          <a:noFill/>
          <a:ln w="12700">
            <a:solidFill>
              <a:schemeClr val="accent5"/>
            </a:solidFill>
            <a:prstDash val="dash"/>
          </a:ln>
        </p:spPr>
      </p:sp>
      <p:sp>
        <p:nvSpPr>
          <p:cNvPr id="22" name="Shape 20"/>
          <p:cNvSpPr/>
          <p:nvPr/>
        </p:nvSpPr>
        <p:spPr>
          <a:xfrm>
            <a:off x="10881360" y="2194560"/>
            <a:ext cx="0" cy="2286000"/>
          </a:xfrm>
          <a:prstGeom prst="line">
            <a:avLst/>
          </a:prstGeom>
          <a:noFill/>
          <a:ln w="12700">
            <a:solidFill>
              <a:schemeClr val="accent5"/>
            </a:solidFill>
            <a:prstDash val="dash"/>
          </a:ln>
        </p:spPr>
      </p:sp>
      <p:sp>
        <p:nvSpPr>
          <p:cNvPr id="23" name="Shape 21"/>
          <p:cNvSpPr/>
          <p:nvPr/>
        </p:nvSpPr>
        <p:spPr>
          <a:xfrm>
            <a:off x="7040880" y="2514600"/>
            <a:ext cx="3840480" cy="0"/>
          </a:xfrm>
          <a:prstGeom prst="line">
            <a:avLst/>
          </a:prstGeom>
          <a:noFill/>
          <a:ln w="25400">
            <a:solidFill>
              <a:schemeClr val="accent1"/>
            </a:solidFill>
            <a:prstDash val="solid"/>
            <a:tailEnd type="triangle"/>
          </a:ln>
        </p:spPr>
      </p:sp>
      <p:sp>
        <p:nvSpPr>
          <p:cNvPr id="24" name="Text 22"/>
          <p:cNvSpPr txBox="1"/>
          <p:nvPr/>
        </p:nvSpPr>
        <p:spPr>
          <a:xfrm>
            <a:off x="7178040" y="2185416"/>
            <a:ext cx="3566160" cy="292608"/>
          </a:xfrm>
          <a:prstGeom prst="rect">
            <a:avLst/>
          </a:prstGeom>
          <a:noFill/>
          <a:ln/>
        </p:spPr>
        <p:txBody>
          <a:bodyPr wrap="square" lIns="0" tIns="0" rIns="0" bIns="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(CM, openWrite, s.txt)</a:t>
            </a:r>
            <a:endParaRPr lang="en-US" sz="1200" dirty="0"/>
          </a:p>
        </p:txBody>
      </p:sp>
      <p:sp>
        <p:nvSpPr>
          <p:cNvPr id="25" name="Shape 23"/>
          <p:cNvSpPr/>
          <p:nvPr/>
        </p:nvSpPr>
        <p:spPr>
          <a:xfrm flipH="1">
            <a:off x="7040880" y="3040380"/>
            <a:ext cx="3840480" cy="0"/>
          </a:xfrm>
          <a:prstGeom prst="line">
            <a:avLst/>
          </a:prstGeom>
          <a:noFill/>
          <a:ln w="25400">
            <a:solidFill>
              <a:schemeClr val="accent4"/>
            </a:solidFill>
            <a:prstDash val="solid"/>
            <a:tailEnd type="triangle"/>
          </a:ln>
        </p:spPr>
      </p:sp>
      <p:sp>
        <p:nvSpPr>
          <p:cNvPr id="26" name="Text 24"/>
          <p:cNvSpPr txBox="1"/>
          <p:nvPr/>
        </p:nvSpPr>
        <p:spPr>
          <a:xfrm>
            <a:off x="7178040" y="2711196"/>
            <a:ext cx="3566160" cy="292608"/>
          </a:xfrm>
          <a:prstGeom prst="rect">
            <a:avLst/>
          </a:prstGeom>
          <a:noFill/>
          <a:ln/>
        </p:spPr>
        <p:txBody>
          <a:bodyPr wrap="square" lIns="0" tIns="0" rIns="0" bIns="0" rtlCol="0" anchor="ctr"/>
          <a:lstStyle/>
          <a:p>
            <a:pPr algn="ctr" indent="0" marL="0">
              <a:buNone/>
            </a:pPr>
            <a:r>
              <a:rPr lang="en-US" sz="1200" b="1" dirty="0">
                <a:solidFill>
                  <a:schemeClr val="accent4"/>
                </a:solidFill>
                <a:latin typeface="Courier New" pitchFamily="34" charset="0"/>
                <a:ea typeface="Courier New" pitchFamily="34" charset="-122"/>
                <a:cs typeface="Courier New" pitchFamily="34" charset="-120"/>
              </a:rPr>
              <a:t>(SC, READY)</a:t>
            </a:r>
            <a:endParaRPr lang="en-US" sz="1200" dirty="0"/>
          </a:p>
        </p:txBody>
      </p:sp>
      <p:sp>
        <p:nvSpPr>
          <p:cNvPr id="27" name="Shape 25"/>
          <p:cNvSpPr/>
          <p:nvPr/>
        </p:nvSpPr>
        <p:spPr>
          <a:xfrm>
            <a:off x="7040880" y="3566160"/>
            <a:ext cx="3840480" cy="0"/>
          </a:xfrm>
          <a:prstGeom prst="line">
            <a:avLst/>
          </a:prstGeom>
          <a:noFill/>
          <a:ln w="25400">
            <a:solidFill>
              <a:schemeClr val="accent2"/>
            </a:solidFill>
            <a:prstDash val="solid"/>
            <a:tailEnd type="triangle"/>
          </a:ln>
        </p:spPr>
      </p:sp>
      <p:sp>
        <p:nvSpPr>
          <p:cNvPr id="28" name="Text 26"/>
          <p:cNvSpPr txBox="1"/>
          <p:nvPr/>
        </p:nvSpPr>
        <p:spPr>
          <a:xfrm>
            <a:off x="7178040" y="3236976"/>
            <a:ext cx="3566160" cy="292608"/>
          </a:xfrm>
          <a:prstGeom prst="rect">
            <a:avLst/>
          </a:prstGeom>
          <a:noFill/>
          <a:ln/>
        </p:spPr>
        <p:txBody>
          <a:bodyPr wrap="square" lIns="0" tIns="0" rIns="0" bIns="0" rtlCol="0" anchor="ctr"/>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(DP, encrypt(text))</a:t>
            </a:r>
            <a:endParaRPr lang="en-US" sz="1200" dirty="0"/>
          </a:p>
        </p:txBody>
      </p:sp>
      <p:sp>
        <p:nvSpPr>
          <p:cNvPr id="29" name="Shape 27"/>
          <p:cNvSpPr/>
          <p:nvPr/>
        </p:nvSpPr>
        <p:spPr>
          <a:xfrm flipH="1">
            <a:off x="7040880" y="4091940"/>
            <a:ext cx="3840480" cy="0"/>
          </a:xfrm>
          <a:prstGeom prst="line">
            <a:avLst/>
          </a:prstGeom>
          <a:noFill/>
          <a:ln w="25400">
            <a:solidFill>
              <a:schemeClr val="accent4"/>
            </a:solidFill>
            <a:prstDash val="solid"/>
            <a:tailEnd type="triangle"/>
          </a:ln>
        </p:spPr>
      </p:sp>
      <p:sp>
        <p:nvSpPr>
          <p:cNvPr id="30" name="Text 28"/>
          <p:cNvSpPr txBox="1"/>
          <p:nvPr/>
        </p:nvSpPr>
        <p:spPr>
          <a:xfrm>
            <a:off x="7178040" y="3762756"/>
            <a:ext cx="3566160" cy="292608"/>
          </a:xfrm>
          <a:prstGeom prst="rect">
            <a:avLst/>
          </a:prstGeom>
          <a:noFill/>
          <a:ln/>
        </p:spPr>
        <p:txBody>
          <a:bodyPr wrap="square" lIns="0" tIns="0" rIns="0" bIns="0" rtlCol="0" anchor="ctr"/>
          <a:lstStyle/>
          <a:p>
            <a:pPr algn="ctr" indent="0" marL="0">
              <a:buNone/>
            </a:pPr>
            <a:r>
              <a:rPr lang="en-US" sz="1200" b="1" dirty="0">
                <a:solidFill>
                  <a:schemeClr val="accent4"/>
                </a:solidFill>
                <a:latin typeface="Courier New" pitchFamily="34" charset="0"/>
                <a:ea typeface="Courier New" pitchFamily="34" charset="-122"/>
                <a:cs typeface="Courier New" pitchFamily="34" charset="-120"/>
              </a:rPr>
              <a:t>(SC, SAVED)</a:t>
            </a:r>
            <a:endParaRPr lang="en-US" sz="1200" dirty="0"/>
          </a:p>
        </p:txBody>
      </p:sp>
      <p:sp>
        <p:nvSpPr>
          <p:cNvPr id="31" name="Shape 29"/>
          <p:cNvSpPr/>
          <p:nvPr/>
        </p:nvSpPr>
        <p:spPr>
          <a:xfrm>
            <a:off x="548640" y="4754880"/>
            <a:ext cx="5303520" cy="1371600"/>
          </a:xfrm>
          <a:prstGeom prst="roundRect">
            <a:avLst>
              <a:gd name="adj" fmla="val 8000"/>
            </a:avLst>
          </a:prstGeom>
          <a:solidFill>
            <a:schemeClr val="bg2"/>
          </a:solidFill>
          <a:ln/>
        </p:spPr>
      </p:sp>
      <p:sp>
        <p:nvSpPr>
          <p:cNvPr id="32" name="Text 30"/>
          <p:cNvSpPr txBox="1"/>
          <p:nvPr/>
        </p:nvSpPr>
        <p:spPr>
          <a:xfrm>
            <a:off x="548640" y="4754880"/>
            <a:ext cx="5303520" cy="1371600"/>
          </a:xfrm>
          <a:prstGeom prst="rect">
            <a:avLst/>
          </a:prstGeom>
          <a:noFill/>
          <a:ln/>
        </p:spPr>
        <p:txBody>
          <a:bodyPr wrap="square" lIns="203200" tIns="203200" rIns="203200" bIns="203200" rtlCol="0" anchor="ctr"/>
          <a:lstStyle/>
          <a:p>
            <a:pPr algn="l" indent="0" marL="0">
              <a:buNone/>
            </a:pPr>
            <a:r>
              <a:rPr lang="en-US" sz="1400" dirty="0">
                <a:solidFill>
                  <a:schemeClr val="tx1"/>
                </a:solidFill>
                <a:latin typeface="Courier New" pitchFamily="34" charset="0"/>
                <a:ea typeface="Courier New" pitchFamily="34" charset="-122"/>
                <a:cs typeface="Courier New" pitchFamily="34" charset="-120"/>
              </a:rPr>
              <a:t>open(path, "rb") → read</a:t>
            </a:r>
            <a:endParaRPr lang="en-US" sz="1400" dirty="0"/>
          </a:p>
          <a:p>
            <a:pPr algn="l" indent="0" marL="0">
              <a:buNone/>
            </a:pPr>
            <a:r>
              <a:rPr lang="en-US" sz="1400" dirty="0">
                <a:solidFill>
                  <a:schemeClr val="tx1"/>
                </a:solidFill>
                <a:latin typeface="Courier New" pitchFamily="34" charset="0"/>
                <a:ea typeface="Courier New" pitchFamily="34" charset="-122"/>
                <a:cs typeface="Courier New" pitchFamily="34" charset="-120"/>
              </a:rPr>
              <a:t>encrypt_payload(data, mode, key)</a:t>
            </a:r>
            <a:endParaRPr lang="en-US" sz="1400" dirty="0"/>
          </a:p>
          <a:p>
            <a:pPr algn="l" indent="0" marL="0">
              <a:buNone/>
            </a:pPr>
            <a:r>
              <a:rPr lang="en-US" sz="1400" dirty="0">
                <a:solidFill>
                  <a:schemeClr val="tx1"/>
                </a:solidFill>
                <a:latin typeface="Courier New" pitchFamily="34" charset="0"/>
                <a:ea typeface="Courier New" pitchFamily="34" charset="-122"/>
                <a:cs typeface="Courier New" pitchFamily="34" charset="-120"/>
              </a:rPr>
              <a:t>missing file → only (EE,2,…)</a:t>
            </a:r>
            <a:endParaRPr lang="en-US" sz="1400" dirty="0"/>
          </a:p>
        </p:txBody>
      </p:sp>
      <p:sp>
        <p:nvSpPr>
          <p:cNvPr id="33" name="Shape 31"/>
          <p:cNvSpPr/>
          <p:nvPr/>
        </p:nvSpPr>
        <p:spPr>
          <a:xfrm>
            <a:off x="6309360" y="4754880"/>
            <a:ext cx="5303520" cy="1371600"/>
          </a:xfrm>
          <a:prstGeom prst="roundRect">
            <a:avLst>
              <a:gd name="adj" fmla="val 8000"/>
            </a:avLst>
          </a:prstGeom>
          <a:solidFill>
            <a:schemeClr val="bg2"/>
          </a:solidFill>
          <a:ln/>
        </p:spPr>
      </p:sp>
      <p:sp>
        <p:nvSpPr>
          <p:cNvPr id="34" name="Text 32"/>
          <p:cNvSpPr txBox="1"/>
          <p:nvPr/>
        </p:nvSpPr>
        <p:spPr>
          <a:xfrm>
            <a:off x="6309360" y="4754880"/>
            <a:ext cx="5303520" cy="1371600"/>
          </a:xfrm>
          <a:prstGeom prst="rect">
            <a:avLst/>
          </a:prstGeom>
          <a:noFill/>
          <a:ln/>
        </p:spPr>
        <p:txBody>
          <a:bodyPr wrap="square" lIns="203200" tIns="203200" rIns="203200" bIns="203200" rtlCol="0" anchor="ctr"/>
          <a:lstStyle/>
          <a:p>
            <a:pPr algn="l" indent="0" marL="0">
              <a:buNone/>
            </a:pPr>
            <a:r>
              <a:rPr lang="en-US" sz="1400" dirty="0">
                <a:solidFill>
                  <a:schemeClr val="tx1"/>
                </a:solidFill>
                <a:latin typeface="Courier New" pitchFamily="34" charset="0"/>
                <a:ea typeface="Courier New" pitchFamily="34" charset="-122"/>
                <a:cs typeface="Courier New" pitchFamily="34" charset="-120"/>
              </a:rPr>
              <a:t>open(path, "wb") → (SC, READY)</a:t>
            </a:r>
            <a:endParaRPr lang="en-US" sz="1400" dirty="0"/>
          </a:p>
          <a:p>
            <a:pPr algn="l" indent="0" marL="0">
              <a:buNone/>
            </a:pPr>
            <a:r>
              <a:rPr lang="en-US" sz="1400" dirty="0">
                <a:solidFill>
                  <a:schemeClr val="tx1"/>
                </a:solidFill>
                <a:latin typeface="Courier New" pitchFamily="34" charset="0"/>
                <a:ea typeface="Courier New" pitchFamily="34" charset="-122"/>
                <a:cs typeface="Courier New" pitchFamily="34" charset="-120"/>
              </a:rPr>
              <a:t>decrypt_payload(data, mode, key)</a:t>
            </a:r>
            <a:endParaRPr lang="en-US" sz="1400" dirty="0"/>
          </a:p>
          <a:p>
            <a:pPr algn="l" indent="0" marL="0">
              <a:buNone/>
            </a:pPr>
            <a:r>
              <a:rPr lang="en-US" sz="1400" dirty="0">
                <a:solidFill>
                  <a:schemeClr val="tx1"/>
                </a:solidFill>
                <a:latin typeface="Courier New" pitchFamily="34" charset="0"/>
                <a:ea typeface="Courier New" pitchFamily="34" charset="-122"/>
                <a:cs typeface="Courier New" pitchFamily="34" charset="-120"/>
              </a:rPr>
              <a:t>write → close → (SC, SAVED)</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After every command: SC or EE</a:t>
            </a:r>
            <a:endParaRPr lang="en-US" sz="3400" dirty="0"/>
          </a:p>
        </p:txBody>
      </p:sp>
      <p:sp>
        <p:nvSpPr>
          <p:cNvPr id="3" name="Shape 1"/>
          <p:cNvSpPr/>
          <p:nvPr/>
        </p:nvSpPr>
        <p:spPr>
          <a:xfrm>
            <a:off x="548640" y="1463040"/>
            <a:ext cx="2651760" cy="2560320"/>
          </a:xfrm>
          <a:prstGeom prst="roundRect">
            <a:avLst>
              <a:gd name="adj" fmla="val 4286"/>
            </a:avLst>
          </a:prstGeom>
          <a:solidFill>
            <a:schemeClr val="bg2"/>
          </a:solidFill>
          <a:ln/>
        </p:spPr>
      </p:sp>
      <p:sp>
        <p:nvSpPr>
          <p:cNvPr id="4" name="Shape 2"/>
          <p:cNvSpPr/>
          <p:nvPr/>
        </p:nvSpPr>
        <p:spPr>
          <a:xfrm>
            <a:off x="1417320" y="1645920"/>
            <a:ext cx="914400" cy="914400"/>
          </a:xfrm>
          <a:prstGeom prst="ellipse">
            <a:avLst/>
          </a:prstGeom>
          <a:solidFill>
            <a:schemeClr val="accent3"/>
          </a:solidFill>
          <a:ln/>
        </p:spPr>
      </p:sp>
      <p:sp>
        <p:nvSpPr>
          <p:cNvPr id="5" name="Text 3"/>
          <p:cNvSpPr txBox="1"/>
          <p:nvPr/>
        </p:nvSpPr>
        <p:spPr>
          <a:xfrm>
            <a:off x="1417320" y="1645920"/>
            <a:ext cx="914400" cy="914400"/>
          </a:xfrm>
          <a:prstGeom prst="rect">
            <a:avLst/>
          </a:prstGeom>
          <a:noFill/>
          <a:ln/>
        </p:spPr>
        <p:txBody>
          <a:bodyPr wrap="square" lIns="0" tIns="0" rIns="0" bIns="0" rtlCol="0" anchor="ctr"/>
          <a:lstStyle/>
          <a:p>
            <a:pPr algn="ctr" indent="0" marL="0">
              <a:buNone/>
            </a:pPr>
            <a:r>
              <a:rPr lang="en-US" sz="3200" b="1" dirty="0">
                <a:solidFill>
                  <a:schemeClr val="bg1"/>
                </a:solidFill>
              </a:rPr>
              <a:t>1</a:t>
            </a:r>
            <a:endParaRPr lang="en-US" sz="3200" dirty="0"/>
          </a:p>
        </p:txBody>
      </p:sp>
      <p:sp>
        <p:nvSpPr>
          <p:cNvPr id="6" name="Text 4"/>
          <p:cNvSpPr txBox="1"/>
          <p:nvPr/>
        </p:nvSpPr>
        <p:spPr>
          <a:xfrm>
            <a:off x="685800" y="2697480"/>
            <a:ext cx="2377440" cy="411480"/>
          </a:xfrm>
          <a:prstGeom prst="rect">
            <a:avLst/>
          </a:prstGeom>
          <a:noFill/>
          <a:ln/>
        </p:spPr>
        <p:txBody>
          <a:bodyPr wrap="square" lIns="0" tIns="0" rIns="0" bIns="0" rtlCol="0" anchor="ctr"/>
          <a:lstStyle/>
          <a:p>
            <a:pPr algn="ctr" indent="0" marL="0">
              <a:buNone/>
            </a:pPr>
            <a:r>
              <a:rPr lang="en-US" sz="1800" b="1" dirty="0">
                <a:solidFill>
                  <a:schemeClr val="tx1"/>
                </a:solidFill>
              </a:rPr>
              <a:t>Protocol</a:t>
            </a:r>
            <a:endParaRPr lang="en-US" sz="1800" dirty="0"/>
          </a:p>
        </p:txBody>
      </p:sp>
      <p:sp>
        <p:nvSpPr>
          <p:cNvPr id="7" name="Text 5"/>
          <p:cNvSpPr txBox="1"/>
          <p:nvPr/>
        </p:nvSpPr>
        <p:spPr>
          <a:xfrm>
            <a:off x="685800" y="3154680"/>
            <a:ext cx="2377440" cy="777240"/>
          </a:xfrm>
          <a:prstGeom prst="rect">
            <a:avLst/>
          </a:prstGeom>
          <a:noFill/>
          <a:ln/>
        </p:spPr>
        <p:txBody>
          <a:bodyPr wrap="square" lIns="0" tIns="0" rIns="0" bIns="0" rtlCol="0" anchor="ctr"/>
          <a:lstStyle/>
          <a:p>
            <a:pPr algn="ctr" indent="0" marL="0">
              <a:buNone/>
            </a:pPr>
            <a:r>
              <a:rPr lang="en-US" sz="1300" dirty="0">
                <a:solidFill>
                  <a:schemeClr val="tx1"/>
                </a:solidFill>
              </a:rPr>
              <a:t>Wrong packet, wrong version,</a:t>
            </a:r>
            <a:endParaRPr lang="en-US" sz="1300" dirty="0"/>
          </a:p>
          <a:p>
            <a:pPr algn="ctr" indent="0" marL="0">
              <a:buNone/>
            </a:pPr>
            <a:r>
              <a:rPr lang="en-US" sz="1300" dirty="0">
                <a:solidFill>
                  <a:schemeClr val="tx1"/>
                </a:solidFill>
              </a:rPr>
              <a:t>badly formed packet</a:t>
            </a:r>
            <a:endParaRPr lang="en-US" sz="1300" dirty="0"/>
          </a:p>
        </p:txBody>
      </p:sp>
      <p:sp>
        <p:nvSpPr>
          <p:cNvPr id="8" name="Shape 6"/>
          <p:cNvSpPr/>
          <p:nvPr/>
        </p:nvSpPr>
        <p:spPr>
          <a:xfrm>
            <a:off x="3383280" y="1463040"/>
            <a:ext cx="2651760" cy="2560320"/>
          </a:xfrm>
          <a:prstGeom prst="roundRect">
            <a:avLst>
              <a:gd name="adj" fmla="val 4286"/>
            </a:avLst>
          </a:prstGeom>
          <a:solidFill>
            <a:schemeClr val="bg2"/>
          </a:solidFill>
          <a:ln/>
        </p:spPr>
      </p:sp>
      <p:sp>
        <p:nvSpPr>
          <p:cNvPr id="9" name="Shape 7"/>
          <p:cNvSpPr/>
          <p:nvPr/>
        </p:nvSpPr>
        <p:spPr>
          <a:xfrm>
            <a:off x="4251960" y="1645920"/>
            <a:ext cx="914400" cy="914400"/>
          </a:xfrm>
          <a:prstGeom prst="ellipse">
            <a:avLst/>
          </a:prstGeom>
          <a:solidFill>
            <a:schemeClr val="accent3"/>
          </a:solidFill>
          <a:ln/>
        </p:spPr>
      </p:sp>
      <p:sp>
        <p:nvSpPr>
          <p:cNvPr id="10" name="Text 8"/>
          <p:cNvSpPr txBox="1"/>
          <p:nvPr/>
        </p:nvSpPr>
        <p:spPr>
          <a:xfrm>
            <a:off x="4251960" y="1645920"/>
            <a:ext cx="914400" cy="91440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11" name="Text 9"/>
          <p:cNvSpPr txBox="1"/>
          <p:nvPr/>
        </p:nvSpPr>
        <p:spPr>
          <a:xfrm>
            <a:off x="3520440" y="2697480"/>
            <a:ext cx="2377440" cy="411480"/>
          </a:xfrm>
          <a:prstGeom prst="rect">
            <a:avLst/>
          </a:prstGeom>
          <a:noFill/>
          <a:ln/>
        </p:spPr>
        <p:txBody>
          <a:bodyPr wrap="square" lIns="0" tIns="0" rIns="0" bIns="0" rtlCol="0" anchor="ctr"/>
          <a:lstStyle/>
          <a:p>
            <a:pPr algn="ctr" indent="0" marL="0">
              <a:buNone/>
            </a:pPr>
            <a:r>
              <a:rPr lang="en-US" sz="1800" b="1" dirty="0">
                <a:solidFill>
                  <a:schemeClr val="tx1"/>
                </a:solidFill>
              </a:rPr>
              <a:t>File / folder</a:t>
            </a:r>
            <a:endParaRPr lang="en-US" sz="1800" dirty="0"/>
          </a:p>
        </p:txBody>
      </p:sp>
      <p:sp>
        <p:nvSpPr>
          <p:cNvPr id="12" name="Text 10"/>
          <p:cNvSpPr txBox="1"/>
          <p:nvPr/>
        </p:nvSpPr>
        <p:spPr>
          <a:xfrm>
            <a:off x="3520440" y="3154680"/>
            <a:ext cx="2377440" cy="777240"/>
          </a:xfrm>
          <a:prstGeom prst="rect">
            <a:avLst/>
          </a:prstGeom>
          <a:noFill/>
          <a:ln/>
        </p:spPr>
        <p:txBody>
          <a:bodyPr wrap="square" lIns="0" tIns="0" rIns="0" bIns="0" rtlCol="0" anchor="ctr"/>
          <a:lstStyle/>
          <a:p>
            <a:pPr algn="ctr" indent="0" marL="0">
              <a:buNone/>
            </a:pPr>
            <a:r>
              <a:rPr lang="en-US" sz="1300" dirty="0">
                <a:solidFill>
                  <a:schemeClr val="tx1"/>
                </a:solidFill>
              </a:rPr>
              <a:t>File not found, folder exists,</a:t>
            </a:r>
            <a:endParaRPr lang="en-US" sz="1300" dirty="0"/>
          </a:p>
          <a:p>
            <a:pPr algn="ctr" indent="0" marL="0">
              <a:buNone/>
            </a:pPr>
            <a:r>
              <a:rPr lang="en-US" sz="1300" dirty="0">
                <a:solidFill>
                  <a:schemeClr val="tx1"/>
                </a:solidFill>
              </a:rPr>
              <a:t>file system failure</a:t>
            </a:r>
            <a:endParaRPr lang="en-US" sz="1300" dirty="0"/>
          </a:p>
        </p:txBody>
      </p:sp>
      <p:sp>
        <p:nvSpPr>
          <p:cNvPr id="13" name="Shape 11"/>
          <p:cNvSpPr/>
          <p:nvPr/>
        </p:nvSpPr>
        <p:spPr>
          <a:xfrm>
            <a:off x="6217920" y="1463040"/>
            <a:ext cx="2651760" cy="2560320"/>
          </a:xfrm>
          <a:prstGeom prst="roundRect">
            <a:avLst>
              <a:gd name="adj" fmla="val 4286"/>
            </a:avLst>
          </a:prstGeom>
          <a:solidFill>
            <a:schemeClr val="bg2"/>
          </a:solidFill>
          <a:ln/>
        </p:spPr>
      </p:sp>
      <p:sp>
        <p:nvSpPr>
          <p:cNvPr id="14" name="Shape 12"/>
          <p:cNvSpPr/>
          <p:nvPr/>
        </p:nvSpPr>
        <p:spPr>
          <a:xfrm>
            <a:off x="7086600" y="1645920"/>
            <a:ext cx="914400" cy="914400"/>
          </a:xfrm>
          <a:prstGeom prst="ellipse">
            <a:avLst/>
          </a:prstGeom>
          <a:solidFill>
            <a:schemeClr val="accent3"/>
          </a:solidFill>
          <a:ln/>
        </p:spPr>
      </p:sp>
      <p:sp>
        <p:nvSpPr>
          <p:cNvPr id="15" name="Text 13"/>
          <p:cNvSpPr txBox="1"/>
          <p:nvPr/>
        </p:nvSpPr>
        <p:spPr>
          <a:xfrm>
            <a:off x="7086600" y="1645920"/>
            <a:ext cx="914400" cy="914400"/>
          </a:xfrm>
          <a:prstGeom prst="rect">
            <a:avLst/>
          </a:prstGeom>
          <a:noFill/>
          <a:ln/>
        </p:spPr>
        <p:txBody>
          <a:bodyPr wrap="square" lIns="0" tIns="0" rIns="0" bIns="0" rtlCol="0" anchor="ctr"/>
          <a:lstStyle/>
          <a:p>
            <a:pPr algn="ctr" indent="0" marL="0">
              <a:buNone/>
            </a:pPr>
            <a:r>
              <a:rPr lang="en-US" sz="3200" b="1" dirty="0">
                <a:solidFill>
                  <a:schemeClr val="bg1"/>
                </a:solidFill>
              </a:rPr>
              <a:t>3</a:t>
            </a:r>
            <a:endParaRPr lang="en-US" sz="3200" dirty="0"/>
          </a:p>
        </p:txBody>
      </p:sp>
      <p:sp>
        <p:nvSpPr>
          <p:cNvPr id="16" name="Text 14"/>
          <p:cNvSpPr txBox="1"/>
          <p:nvPr/>
        </p:nvSpPr>
        <p:spPr>
          <a:xfrm>
            <a:off x="6355080" y="2697480"/>
            <a:ext cx="2377440" cy="411480"/>
          </a:xfrm>
          <a:prstGeom prst="rect">
            <a:avLst/>
          </a:prstGeom>
          <a:noFill/>
          <a:ln/>
        </p:spPr>
        <p:txBody>
          <a:bodyPr wrap="square" lIns="0" tIns="0" rIns="0" bIns="0" rtlCol="0" anchor="ctr"/>
          <a:lstStyle/>
          <a:p>
            <a:pPr algn="ctr" indent="0" marL="0">
              <a:buNone/>
            </a:pPr>
            <a:r>
              <a:rPr lang="en-US" sz="1800" b="1" dirty="0">
                <a:solidFill>
                  <a:schemeClr val="tx1"/>
                </a:solidFill>
              </a:rPr>
              <a:t>Command</a:t>
            </a:r>
            <a:endParaRPr lang="en-US" sz="1800" dirty="0"/>
          </a:p>
        </p:txBody>
      </p:sp>
      <p:sp>
        <p:nvSpPr>
          <p:cNvPr id="17" name="Text 15"/>
          <p:cNvSpPr txBox="1"/>
          <p:nvPr/>
        </p:nvSpPr>
        <p:spPr>
          <a:xfrm>
            <a:off x="6355080" y="3154680"/>
            <a:ext cx="2377440" cy="777240"/>
          </a:xfrm>
          <a:prstGeom prst="rect">
            <a:avLst/>
          </a:prstGeom>
          <a:noFill/>
          <a:ln/>
        </p:spPr>
        <p:txBody>
          <a:bodyPr wrap="square" lIns="0" tIns="0" rIns="0" bIns="0" rtlCol="0" anchor="ctr"/>
          <a:lstStyle/>
          <a:p>
            <a:pPr algn="ctr" indent="0" marL="0">
              <a:buNone/>
            </a:pPr>
            <a:r>
              <a:rPr lang="en-US" sz="1300" dirty="0">
                <a:solidFill>
                  <a:schemeClr val="tx1"/>
                </a:solidFill>
              </a:rPr>
              <a:t>Unknown command,</a:t>
            </a:r>
            <a:endParaRPr lang="en-US" sz="1300" dirty="0"/>
          </a:p>
          <a:p>
            <a:pPr algn="ctr" indent="0" marL="0">
              <a:buNone/>
            </a:pPr>
            <a:r>
              <a:rPr lang="en-US" sz="1300" dirty="0">
                <a:solidFill>
                  <a:schemeClr val="tx1"/>
                </a:solidFill>
              </a:rPr>
              <a:t>wrong number of arguments</a:t>
            </a:r>
            <a:endParaRPr lang="en-US" sz="1300" dirty="0"/>
          </a:p>
        </p:txBody>
      </p:sp>
      <p:sp>
        <p:nvSpPr>
          <p:cNvPr id="18" name="Shape 16"/>
          <p:cNvSpPr/>
          <p:nvPr/>
        </p:nvSpPr>
        <p:spPr>
          <a:xfrm>
            <a:off x="9052560" y="1463040"/>
            <a:ext cx="2651760" cy="2560320"/>
          </a:xfrm>
          <a:prstGeom prst="roundRect">
            <a:avLst>
              <a:gd name="adj" fmla="val 4286"/>
            </a:avLst>
          </a:prstGeom>
          <a:solidFill>
            <a:schemeClr val="bg2"/>
          </a:solidFill>
          <a:ln/>
        </p:spPr>
      </p:sp>
      <p:sp>
        <p:nvSpPr>
          <p:cNvPr id="19" name="Shape 17"/>
          <p:cNvSpPr/>
          <p:nvPr/>
        </p:nvSpPr>
        <p:spPr>
          <a:xfrm>
            <a:off x="9921240" y="1645920"/>
            <a:ext cx="914400" cy="914400"/>
          </a:xfrm>
          <a:prstGeom prst="ellipse">
            <a:avLst/>
          </a:prstGeom>
          <a:solidFill>
            <a:schemeClr val="accent3"/>
          </a:solidFill>
          <a:ln/>
        </p:spPr>
      </p:sp>
      <p:sp>
        <p:nvSpPr>
          <p:cNvPr id="20" name="Text 18"/>
          <p:cNvSpPr txBox="1"/>
          <p:nvPr/>
        </p:nvSpPr>
        <p:spPr>
          <a:xfrm>
            <a:off x="9921240" y="1645920"/>
            <a:ext cx="914400" cy="914400"/>
          </a:xfrm>
          <a:prstGeom prst="rect">
            <a:avLst/>
          </a:prstGeom>
          <a:noFill/>
          <a:ln/>
        </p:spPr>
        <p:txBody>
          <a:bodyPr wrap="square" lIns="0" tIns="0" rIns="0" bIns="0" rtlCol="0" anchor="ctr"/>
          <a:lstStyle/>
          <a:p>
            <a:pPr algn="ctr" indent="0" marL="0">
              <a:buNone/>
            </a:pPr>
            <a:r>
              <a:rPr lang="en-US" sz="3200" b="1" dirty="0">
                <a:solidFill>
                  <a:schemeClr val="bg1"/>
                </a:solidFill>
              </a:rPr>
              <a:t>4</a:t>
            </a:r>
            <a:endParaRPr lang="en-US" sz="3200" dirty="0"/>
          </a:p>
        </p:txBody>
      </p:sp>
      <p:sp>
        <p:nvSpPr>
          <p:cNvPr id="21" name="Text 19"/>
          <p:cNvSpPr txBox="1"/>
          <p:nvPr/>
        </p:nvSpPr>
        <p:spPr>
          <a:xfrm>
            <a:off x="9189720" y="2697480"/>
            <a:ext cx="2377440" cy="411480"/>
          </a:xfrm>
          <a:prstGeom prst="rect">
            <a:avLst/>
          </a:prstGeom>
          <a:noFill/>
          <a:ln/>
        </p:spPr>
        <p:txBody>
          <a:bodyPr wrap="square" lIns="0" tIns="0" rIns="0" bIns="0" rtlCol="0" anchor="ctr"/>
          <a:lstStyle/>
          <a:p>
            <a:pPr algn="ctr" indent="0" marL="0">
              <a:buNone/>
            </a:pPr>
            <a:r>
              <a:rPr lang="en-US" sz="1800" b="1" dirty="0">
                <a:solidFill>
                  <a:schemeClr val="tx1"/>
                </a:solidFill>
              </a:rPr>
              <a:t>Encryption</a:t>
            </a:r>
            <a:endParaRPr lang="en-US" sz="1800" dirty="0"/>
          </a:p>
        </p:txBody>
      </p:sp>
      <p:sp>
        <p:nvSpPr>
          <p:cNvPr id="22" name="Text 20"/>
          <p:cNvSpPr txBox="1"/>
          <p:nvPr/>
        </p:nvSpPr>
        <p:spPr>
          <a:xfrm>
            <a:off x="9189720" y="3154680"/>
            <a:ext cx="2377440" cy="777240"/>
          </a:xfrm>
          <a:prstGeom prst="rect">
            <a:avLst/>
          </a:prstGeom>
          <a:noFill/>
          <a:ln/>
        </p:spPr>
        <p:txBody>
          <a:bodyPr wrap="square" lIns="0" tIns="0" rIns="0" bIns="0" rtlCol="0" anchor="ctr"/>
          <a:lstStyle/>
          <a:p>
            <a:pPr algn="ctr" indent="0" marL="0">
              <a:buNone/>
            </a:pPr>
            <a:r>
              <a:rPr lang="en-US" sz="1300" dirty="0">
                <a:solidFill>
                  <a:schemeClr val="tx1"/>
                </a:solidFill>
              </a:rPr>
              <a:t>Unknown algorithm, bad key,</a:t>
            </a:r>
            <a:endParaRPr lang="en-US" sz="1300" dirty="0"/>
          </a:p>
          <a:p>
            <a:pPr algn="ctr" indent="0" marL="0">
              <a:buNone/>
            </a:pPr>
            <a:r>
              <a:rPr lang="en-US" sz="1300" dirty="0">
                <a:solidFill>
                  <a:schemeClr val="tx1"/>
                </a:solidFill>
              </a:rPr>
              <a:t>decryption failed</a:t>
            </a:r>
            <a:endParaRPr lang="en-US" sz="1300" dirty="0"/>
          </a:p>
        </p:txBody>
      </p:sp>
      <p:sp>
        <p:nvSpPr>
          <p:cNvPr id="23" name="Shape 21"/>
          <p:cNvSpPr/>
          <p:nvPr/>
        </p:nvSpPr>
        <p:spPr>
          <a:xfrm>
            <a:off x="548640" y="4343400"/>
            <a:ext cx="5760720" cy="1783080"/>
          </a:xfrm>
          <a:prstGeom prst="roundRect">
            <a:avLst>
              <a:gd name="adj" fmla="val 5128"/>
            </a:avLst>
          </a:prstGeom>
          <a:solidFill>
            <a:schemeClr val="tx2"/>
          </a:solidFill>
          <a:ln/>
        </p:spPr>
      </p:sp>
      <p:sp>
        <p:nvSpPr>
          <p:cNvPr id="24" name="Text 22"/>
          <p:cNvSpPr txBox="1"/>
          <p:nvPr/>
        </p:nvSpPr>
        <p:spPr>
          <a:xfrm>
            <a:off x="685800" y="4434840"/>
            <a:ext cx="5486400" cy="1600200"/>
          </a:xfrm>
          <a:prstGeom prst="rect">
            <a:avLst/>
          </a:prstGeom>
          <a:noFill/>
          <a:ln/>
        </p:spPr>
        <p:txBody>
          <a:bodyPr wrap="square" lIns="0" tIns="0" rIns="0" bIns="0" rtlCol="0" anchor="t"/>
          <a:lstStyle/>
          <a:p>
            <a:pPr algn="l" indent="0" marL="0">
              <a:buNone/>
            </a:pPr>
            <a:r>
              <a:rPr lang="en-US" sz="1300" dirty="0">
                <a:solidFill>
                  <a:schemeClr val="bg1"/>
                </a:solidFill>
                <a:latin typeface="Courier New" pitchFamily="34" charset="0"/>
                <a:ea typeface="Courier New" pitchFamily="34" charset="-122"/>
                <a:cs typeface="Courier New" pitchFamily="34" charset="-120"/>
              </a:rPr>
              <a:t>def get_reply(expected_type):</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packet_type, fields = receive_packet(s)</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if packet_type == "EE":</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print("Server error " + fields[0] + ": "</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 decode_field(fields[1]).decode())</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return None</a:t>
            </a:r>
            <a:endParaRPr lang="en-US" sz="1300" dirty="0"/>
          </a:p>
        </p:txBody>
      </p:sp>
      <p:sp>
        <p:nvSpPr>
          <p:cNvPr id="25" name="Shape 23"/>
          <p:cNvSpPr/>
          <p:nvPr/>
        </p:nvSpPr>
        <p:spPr>
          <a:xfrm>
            <a:off x="6583680" y="4343400"/>
            <a:ext cx="5029200" cy="1783080"/>
          </a:xfrm>
          <a:prstGeom prst="roundRect">
            <a:avLst>
              <a:gd name="adj" fmla="val 6154"/>
            </a:avLst>
          </a:prstGeom>
          <a:solidFill>
            <a:schemeClr val="bg2"/>
          </a:solidFill>
          <a:ln/>
        </p:spPr>
      </p:sp>
      <p:sp>
        <p:nvSpPr>
          <p:cNvPr id="26" name="Text 24"/>
          <p:cNvSpPr txBox="1"/>
          <p:nvPr/>
        </p:nvSpPr>
        <p:spPr>
          <a:xfrm>
            <a:off x="6583680" y="4343400"/>
            <a:ext cx="5029200" cy="1783080"/>
          </a:xfrm>
          <a:prstGeom prst="rect">
            <a:avLst/>
          </a:prstGeom>
          <a:noFill/>
          <a:ln/>
        </p:spPr>
        <p:txBody>
          <a:bodyPr wrap="square" lIns="203200" tIns="203200" rIns="203200" bIns="203200" rtlCol="0" anchor="ctr"/>
          <a:lstStyle/>
          <a:p>
            <a:pPr algn="l" indent="0" marL="0">
              <a:buNone/>
            </a:pPr>
            <a:r>
              <a:rPr lang="en-US" sz="1500" dirty="0">
                <a:solidFill>
                  <a:schemeClr val="tx1"/>
                </a:solidFill>
              </a:rPr>
              <a:t>Client output:</a:t>
            </a:r>
            <a:endParaRPr lang="en-US" sz="1500" dirty="0"/>
          </a:p>
          <a:p>
            <a:pPr algn="l" indent="0" marL="0">
              <a:buNone/>
            </a:pPr>
            <a:r>
              <a:rPr lang="en-US" sz="1500" dirty="0">
                <a:solidFill>
                  <a:schemeClr val="tx1"/>
                </a:solidFill>
              </a:rPr>
              <a:t>Server error 2: File not found: x.txt</a:t>
            </a:r>
            <a:endParaRPr lang="en-US" sz="1500" dirty="0"/>
          </a:p>
          <a:p>
            <a:pPr algn="l" indent="0" marL="0">
              <a:buNone/>
            </a:pPr>
            <a:endParaRPr lang="en-US" sz="1500" dirty="0"/>
          </a:p>
          <a:p>
            <a:pPr algn="l" indent="0" marL="0">
              <a:buNone/>
            </a:pPr>
            <a:r>
              <a:rPr lang="en-US" sz="1500" dirty="0">
                <a:solidFill>
                  <a:schemeClr val="tx1"/>
                </a:solidFill>
              </a:rPr>
              <a:t>The session continues: one failed</a:t>
            </a:r>
            <a:endParaRPr lang="en-US" sz="1500" dirty="0"/>
          </a:p>
          <a:p>
            <a:pPr algn="l" indent="0" marL="0">
              <a:buNone/>
            </a:pPr>
            <a:r>
              <a:rPr lang="en-US" sz="1500" dirty="0">
                <a:solidFill>
                  <a:schemeClr val="tx1"/>
                </a:solidFill>
              </a:rPr>
              <a:t>command never ends the connection.</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Python client: choose a mode, then use the menu</a:t>
            </a:r>
            <a:endParaRPr lang="en-US" sz="3400" dirty="0"/>
          </a:p>
        </p:txBody>
      </p:sp>
      <p:sp>
        <p:nvSpPr>
          <p:cNvPr id="3" name="Shape 1"/>
          <p:cNvSpPr/>
          <p:nvPr/>
        </p:nvSpPr>
        <p:spPr>
          <a:xfrm>
            <a:off x="548640" y="1554480"/>
            <a:ext cx="548640" cy="548640"/>
          </a:xfrm>
          <a:prstGeom prst="ellipse">
            <a:avLst/>
          </a:prstGeom>
          <a:solidFill>
            <a:schemeClr val="accent1"/>
          </a:solidFill>
          <a:ln/>
        </p:spPr>
      </p:sp>
      <p:sp>
        <p:nvSpPr>
          <p:cNvPr id="4" name="Text 2"/>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80160" y="1463040"/>
            <a:ext cx="2377440" cy="731520"/>
          </a:xfrm>
          <a:prstGeom prst="rect">
            <a:avLst/>
          </a:prstGeom>
          <a:noFill/>
          <a:ln/>
        </p:spPr>
        <p:txBody>
          <a:bodyPr wrap="square" lIns="0" tIns="0" rIns="0" bIns="0" rtlCol="0" anchor="ctr"/>
          <a:lstStyle/>
          <a:p>
            <a:pPr algn="l" indent="0" marL="0">
              <a:buNone/>
            </a:pPr>
            <a:r>
              <a:rPr lang="en-US" sz="1700" b="1" dirty="0">
                <a:solidFill>
                  <a:schemeClr val="tx1"/>
                </a:solidFill>
              </a:rPr>
              <a:t>Run a command</a:t>
            </a:r>
            <a:endParaRPr lang="en-US" sz="1700" dirty="0"/>
          </a:p>
        </p:txBody>
      </p:sp>
      <p:sp>
        <p:nvSpPr>
          <p:cNvPr id="6" name="Text 4"/>
          <p:cNvSpPr txBox="1"/>
          <p:nvPr/>
        </p:nvSpPr>
        <p:spPr>
          <a:xfrm>
            <a:off x="3657600" y="1463040"/>
            <a:ext cx="2377440" cy="731520"/>
          </a:xfrm>
          <a:prstGeom prst="rect">
            <a:avLst/>
          </a:prstGeom>
          <a:noFill/>
          <a:ln/>
        </p:spPr>
        <p:txBody>
          <a:bodyPr wrap="square" lIns="0" tIns="0" rIns="0" bIns="0" rtlCol="0" anchor="ctr"/>
          <a:lstStyle/>
          <a:p>
            <a:pPr algn="l" indent="0" marL="0">
              <a:buNone/>
            </a:pPr>
            <a:r>
              <a:rPr lang="en-US" sz="1400" dirty="0">
                <a:solidFill>
                  <a:schemeClr val="accent4"/>
                </a:solidFill>
                <a:latin typeface="Courier New" pitchFamily="34" charset="0"/>
                <a:ea typeface="Courier New" pitchFamily="34" charset="-122"/>
                <a:cs typeface="Courier New" pitchFamily="34" charset="-120"/>
              </a:rPr>
              <a:t>(CM,prompt,…)</a:t>
            </a:r>
            <a:endParaRPr lang="en-US" sz="1400" dirty="0"/>
          </a:p>
        </p:txBody>
      </p:sp>
      <p:sp>
        <p:nvSpPr>
          <p:cNvPr id="7" name="Shape 5"/>
          <p:cNvSpPr/>
          <p:nvPr/>
        </p:nvSpPr>
        <p:spPr>
          <a:xfrm>
            <a:off x="548640" y="2468880"/>
            <a:ext cx="548640" cy="548640"/>
          </a:xfrm>
          <a:prstGeom prst="ellipse">
            <a:avLst/>
          </a:prstGeom>
          <a:solidFill>
            <a:schemeClr val="accent1"/>
          </a:solidFill>
          <a:ln/>
        </p:spPr>
      </p:sp>
      <p:sp>
        <p:nvSpPr>
          <p:cNvPr id="8" name="Text 6"/>
          <p:cNvSpPr txBox="1"/>
          <p:nvPr/>
        </p:nvSpPr>
        <p:spPr>
          <a:xfrm>
            <a:off x="548640" y="24688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280160" y="2377440"/>
            <a:ext cx="2377440" cy="731520"/>
          </a:xfrm>
          <a:prstGeom prst="rect">
            <a:avLst/>
          </a:prstGeom>
          <a:noFill/>
          <a:ln/>
        </p:spPr>
        <p:txBody>
          <a:bodyPr wrap="square" lIns="0" tIns="0" rIns="0" bIns="0" rtlCol="0" anchor="ctr"/>
          <a:lstStyle/>
          <a:p>
            <a:pPr algn="l" indent="0" marL="0">
              <a:buNone/>
            </a:pPr>
            <a:r>
              <a:rPr lang="en-US" sz="1700" b="1" dirty="0">
                <a:solidFill>
                  <a:schemeClr val="tx1"/>
                </a:solidFill>
              </a:rPr>
              <a:t>Read a file</a:t>
            </a:r>
            <a:endParaRPr lang="en-US" sz="1700" dirty="0"/>
          </a:p>
        </p:txBody>
      </p:sp>
      <p:sp>
        <p:nvSpPr>
          <p:cNvPr id="10" name="Text 8"/>
          <p:cNvSpPr txBox="1"/>
          <p:nvPr/>
        </p:nvSpPr>
        <p:spPr>
          <a:xfrm>
            <a:off x="3657600" y="2377440"/>
            <a:ext cx="2377440" cy="731520"/>
          </a:xfrm>
          <a:prstGeom prst="rect">
            <a:avLst/>
          </a:prstGeom>
          <a:noFill/>
          <a:ln/>
        </p:spPr>
        <p:txBody>
          <a:bodyPr wrap="square" lIns="0" tIns="0" rIns="0" bIns="0" rtlCol="0" anchor="ctr"/>
          <a:lstStyle/>
          <a:p>
            <a:pPr algn="l" indent="0" marL="0">
              <a:buNone/>
            </a:pPr>
            <a:r>
              <a:rPr lang="en-US" sz="1400" dirty="0">
                <a:solidFill>
                  <a:schemeClr val="accent4"/>
                </a:solidFill>
                <a:latin typeface="Courier New" pitchFamily="34" charset="0"/>
                <a:ea typeface="Courier New" pitchFamily="34" charset="-122"/>
                <a:cs typeface="Courier New" pitchFamily="34" charset="-120"/>
              </a:rPr>
              <a:t>openRead</a:t>
            </a:r>
            <a:endParaRPr lang="en-US" sz="1400" dirty="0"/>
          </a:p>
        </p:txBody>
      </p:sp>
      <p:sp>
        <p:nvSpPr>
          <p:cNvPr id="11" name="Shape 9"/>
          <p:cNvSpPr/>
          <p:nvPr/>
        </p:nvSpPr>
        <p:spPr>
          <a:xfrm>
            <a:off x="548640" y="3383280"/>
            <a:ext cx="548640" cy="548640"/>
          </a:xfrm>
          <a:prstGeom prst="ellipse">
            <a:avLst/>
          </a:prstGeom>
          <a:solidFill>
            <a:schemeClr val="accent1"/>
          </a:solidFill>
          <a:ln/>
        </p:spPr>
      </p:sp>
      <p:sp>
        <p:nvSpPr>
          <p:cNvPr id="12" name="Text 10"/>
          <p:cNvSpPr txBox="1"/>
          <p:nvPr/>
        </p:nvSpPr>
        <p:spPr>
          <a:xfrm>
            <a:off x="548640" y="33832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280160" y="3291840"/>
            <a:ext cx="2377440" cy="731520"/>
          </a:xfrm>
          <a:prstGeom prst="rect">
            <a:avLst/>
          </a:prstGeom>
          <a:noFill/>
          <a:ln/>
        </p:spPr>
        <p:txBody>
          <a:bodyPr wrap="square" lIns="0" tIns="0" rIns="0" bIns="0" rtlCol="0" anchor="ctr"/>
          <a:lstStyle/>
          <a:p>
            <a:pPr algn="l" indent="0" marL="0">
              <a:buNone/>
            </a:pPr>
            <a:r>
              <a:rPr lang="en-US" sz="1700" b="1" dirty="0">
                <a:solidFill>
                  <a:schemeClr val="tx1"/>
                </a:solidFill>
              </a:rPr>
              <a:t>Write a file</a:t>
            </a:r>
            <a:endParaRPr lang="en-US" sz="1700" dirty="0"/>
          </a:p>
        </p:txBody>
      </p:sp>
      <p:sp>
        <p:nvSpPr>
          <p:cNvPr id="14" name="Text 12"/>
          <p:cNvSpPr txBox="1"/>
          <p:nvPr/>
        </p:nvSpPr>
        <p:spPr>
          <a:xfrm>
            <a:off x="3657600" y="3291840"/>
            <a:ext cx="2377440" cy="731520"/>
          </a:xfrm>
          <a:prstGeom prst="rect">
            <a:avLst/>
          </a:prstGeom>
          <a:noFill/>
          <a:ln/>
        </p:spPr>
        <p:txBody>
          <a:bodyPr wrap="square" lIns="0" tIns="0" rIns="0" bIns="0" rtlCol="0" anchor="ctr"/>
          <a:lstStyle/>
          <a:p>
            <a:pPr algn="l" indent="0" marL="0">
              <a:buNone/>
            </a:pPr>
            <a:r>
              <a:rPr lang="en-US" sz="1400" dirty="0">
                <a:solidFill>
                  <a:schemeClr val="accent4"/>
                </a:solidFill>
                <a:latin typeface="Courier New" pitchFamily="34" charset="0"/>
                <a:ea typeface="Courier New" pitchFamily="34" charset="-122"/>
                <a:cs typeface="Courier New" pitchFamily="34" charset="-120"/>
              </a:rPr>
              <a:t>openWrite</a:t>
            </a:r>
            <a:endParaRPr lang="en-US" sz="1400" dirty="0"/>
          </a:p>
        </p:txBody>
      </p:sp>
      <p:sp>
        <p:nvSpPr>
          <p:cNvPr id="15" name="Shape 13"/>
          <p:cNvSpPr/>
          <p:nvPr/>
        </p:nvSpPr>
        <p:spPr>
          <a:xfrm>
            <a:off x="548640" y="4297680"/>
            <a:ext cx="548640" cy="548640"/>
          </a:xfrm>
          <a:prstGeom prst="ellipse">
            <a:avLst/>
          </a:prstGeom>
          <a:solidFill>
            <a:schemeClr val="accent1"/>
          </a:solidFill>
          <a:ln/>
        </p:spPr>
      </p:sp>
      <p:sp>
        <p:nvSpPr>
          <p:cNvPr id="16" name="Text 14"/>
          <p:cNvSpPr txBox="1"/>
          <p:nvPr/>
        </p:nvSpPr>
        <p:spPr>
          <a:xfrm>
            <a:off x="548640" y="42976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280160" y="4206240"/>
            <a:ext cx="2377440" cy="731520"/>
          </a:xfrm>
          <a:prstGeom prst="rect">
            <a:avLst/>
          </a:prstGeom>
          <a:noFill/>
          <a:ln/>
        </p:spPr>
        <p:txBody>
          <a:bodyPr wrap="square" lIns="0" tIns="0" rIns="0" bIns="0" rtlCol="0" anchor="ctr"/>
          <a:lstStyle/>
          <a:p>
            <a:pPr algn="l" indent="0" marL="0">
              <a:buNone/>
            </a:pPr>
            <a:r>
              <a:rPr lang="en-US" sz="1700" b="1" dirty="0">
                <a:solidFill>
                  <a:schemeClr val="tx1"/>
                </a:solidFill>
              </a:rPr>
              <a:t>End</a:t>
            </a:r>
            <a:endParaRPr lang="en-US" sz="1700" dirty="0"/>
          </a:p>
        </p:txBody>
      </p:sp>
      <p:sp>
        <p:nvSpPr>
          <p:cNvPr id="18" name="Text 16"/>
          <p:cNvSpPr txBox="1"/>
          <p:nvPr/>
        </p:nvSpPr>
        <p:spPr>
          <a:xfrm>
            <a:off x="3657600" y="4206240"/>
            <a:ext cx="2377440" cy="731520"/>
          </a:xfrm>
          <a:prstGeom prst="rect">
            <a:avLst/>
          </a:prstGeom>
          <a:noFill/>
          <a:ln/>
        </p:spPr>
        <p:txBody>
          <a:bodyPr wrap="square" lIns="0" tIns="0" rIns="0" bIns="0" rtlCol="0" anchor="ctr"/>
          <a:lstStyle/>
          <a:p>
            <a:pPr algn="l" indent="0" marL="0">
              <a:buNone/>
            </a:pPr>
            <a:r>
              <a:rPr lang="en-US" sz="1400" dirty="0">
                <a:solidFill>
                  <a:schemeClr val="accent4"/>
                </a:solidFill>
                <a:latin typeface="Courier New" pitchFamily="34" charset="0"/>
                <a:ea typeface="Courier New" pitchFamily="34" charset="-122"/>
                <a:cs typeface="Courier New" pitchFamily="34" charset="-120"/>
              </a:rPr>
              <a:t>(End) → (SC,BYE)</a:t>
            </a:r>
            <a:endParaRPr lang="en-US" sz="1400" dirty="0"/>
          </a:p>
        </p:txBody>
      </p:sp>
      <p:sp>
        <p:nvSpPr>
          <p:cNvPr id="19" name="Shape 17"/>
          <p:cNvSpPr/>
          <p:nvPr/>
        </p:nvSpPr>
        <p:spPr>
          <a:xfrm>
            <a:off x="6400800" y="1417320"/>
            <a:ext cx="5212080" cy="3291840"/>
          </a:xfrm>
          <a:prstGeom prst="roundRect">
            <a:avLst>
              <a:gd name="adj" fmla="val 2778"/>
            </a:avLst>
          </a:prstGeom>
          <a:solidFill>
            <a:schemeClr val="tx2"/>
          </a:solidFill>
          <a:ln/>
        </p:spPr>
      </p:sp>
      <p:sp>
        <p:nvSpPr>
          <p:cNvPr id="20" name="Text 18"/>
          <p:cNvSpPr txBox="1"/>
          <p:nvPr/>
        </p:nvSpPr>
        <p:spPr>
          <a:xfrm>
            <a:off x="6537960" y="1508760"/>
            <a:ext cx="4937760" cy="3108960"/>
          </a:xfrm>
          <a:prstGeom prst="rect">
            <a:avLst/>
          </a:prstGeom>
          <a:noFill/>
          <a:ln/>
        </p:spPr>
        <p:txBody>
          <a:bodyPr wrap="square" lIns="0" tIns="0" rIns="0" bIns="0" rtlCol="0" anchor="t"/>
          <a:lstStyle/>
          <a:p>
            <a:pPr algn="l" indent="0" marL="0">
              <a:buNone/>
            </a:pPr>
            <a:r>
              <a:rPr lang="en-US" sz="1300" dirty="0">
                <a:solidFill>
                  <a:schemeClr val="bg1"/>
                </a:solidFill>
                <a:latin typeface="Courier New" pitchFamily="34" charset="0"/>
                <a:ea typeface="Courier New" pitchFamily="34" charset="-122"/>
                <a:cs typeface="Courier New" pitchFamily="34" charset="-120"/>
              </a:rPr>
              <a:t>key = generate_session_key(mode)</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private_key, public_key =</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generate_rsa_keypair()</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send_packet(s, "SS",</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["RFMP", "v1.0", "1"])</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fields = get_reply("CC")</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server_key = load_public_key(...)</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enc = encrypt_session_key(</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server_key, key)</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send_packet(s, "EC", [mode, ...])</a:t>
            </a:r>
            <a:endParaRPr lang="en-US" sz="1300" dirty="0"/>
          </a:p>
        </p:txBody>
      </p:sp>
      <p:sp>
        <p:nvSpPr>
          <p:cNvPr id="21" name="Shape 19"/>
          <p:cNvSpPr/>
          <p:nvPr/>
        </p:nvSpPr>
        <p:spPr>
          <a:xfrm>
            <a:off x="548640" y="5303520"/>
            <a:ext cx="11064240" cy="868680"/>
          </a:xfrm>
          <a:prstGeom prst="roundRect">
            <a:avLst>
              <a:gd name="adj" fmla="val 12632"/>
            </a:avLst>
          </a:prstGeom>
          <a:solidFill>
            <a:schemeClr val="bg2"/>
          </a:solidFill>
          <a:ln/>
        </p:spPr>
      </p:sp>
      <p:sp>
        <p:nvSpPr>
          <p:cNvPr id="22" name="Text 20"/>
          <p:cNvSpPr txBox="1"/>
          <p:nvPr/>
        </p:nvSpPr>
        <p:spPr>
          <a:xfrm>
            <a:off x="548640" y="5303520"/>
            <a:ext cx="11064240" cy="868680"/>
          </a:xfrm>
          <a:prstGeom prst="rect">
            <a:avLst/>
          </a:prstGeom>
          <a:noFill/>
          <a:ln/>
        </p:spPr>
        <p:txBody>
          <a:bodyPr wrap="square" lIns="76200" tIns="76200" rIns="76200" bIns="76200" rtlCol="0" anchor="ctr"/>
          <a:lstStyle/>
          <a:p>
            <a:pPr algn="ctr" indent="0" marL="0">
              <a:buNone/>
            </a:pPr>
            <a:r>
              <a:rPr lang="en-US" sz="1500" dirty="0">
                <a:solidFill>
                  <a:schemeClr val="tx1"/>
                </a:solidFill>
              </a:rPr>
              <a:t>Upload: encrypt_payload() before sending DP   ·   Download: decrypt_payload() after receiving DP   ·   Prints the file contents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C client: same protocol, built by hand</a:t>
            </a:r>
            <a:endParaRPr lang="en-US" sz="3400" dirty="0"/>
          </a:p>
        </p:txBody>
      </p:sp>
      <p:sp>
        <p:nvSpPr>
          <p:cNvPr id="3" name="Shape 1"/>
          <p:cNvSpPr/>
          <p:nvPr/>
        </p:nvSpPr>
        <p:spPr>
          <a:xfrm>
            <a:off x="548640" y="1417320"/>
            <a:ext cx="1965960" cy="685800"/>
          </a:xfrm>
          <a:prstGeom prst="roundRect">
            <a:avLst>
              <a:gd name="adj" fmla="val 16000"/>
            </a:avLst>
          </a:prstGeom>
          <a:solidFill>
            <a:schemeClr val="accent4"/>
          </a:solidFill>
          <a:ln/>
        </p:spPr>
      </p:sp>
      <p:sp>
        <p:nvSpPr>
          <p:cNvPr id="4" name="Text 2"/>
          <p:cNvSpPr txBox="1"/>
          <p:nvPr/>
        </p:nvSpPr>
        <p:spPr>
          <a:xfrm>
            <a:off x="548640" y="1417320"/>
            <a:ext cx="196596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(SS,…,0)</a:t>
            </a:r>
            <a:endParaRPr lang="en-US" sz="1300" dirty="0"/>
          </a:p>
        </p:txBody>
      </p:sp>
      <p:sp>
        <p:nvSpPr>
          <p:cNvPr id="5" name="Shape 3"/>
          <p:cNvSpPr/>
          <p:nvPr/>
        </p:nvSpPr>
        <p:spPr>
          <a:xfrm>
            <a:off x="2514600" y="1755648"/>
            <a:ext cx="320040" cy="0"/>
          </a:xfrm>
          <a:prstGeom prst="line">
            <a:avLst/>
          </a:prstGeom>
          <a:noFill/>
          <a:ln w="25400">
            <a:solidFill>
              <a:schemeClr val="accent5"/>
            </a:solidFill>
            <a:prstDash val="solid"/>
            <a:tailEnd type="triangle"/>
          </a:ln>
        </p:spPr>
      </p:sp>
      <p:sp>
        <p:nvSpPr>
          <p:cNvPr id="6" name="Shape 4"/>
          <p:cNvSpPr/>
          <p:nvPr/>
        </p:nvSpPr>
        <p:spPr>
          <a:xfrm>
            <a:off x="2834640" y="1417320"/>
            <a:ext cx="1965960" cy="685800"/>
          </a:xfrm>
          <a:prstGeom prst="roundRect">
            <a:avLst>
              <a:gd name="adj" fmla="val 16000"/>
            </a:avLst>
          </a:prstGeom>
          <a:solidFill>
            <a:schemeClr val="tx1"/>
          </a:solidFill>
          <a:ln/>
        </p:spPr>
      </p:sp>
      <p:sp>
        <p:nvSpPr>
          <p:cNvPr id="7" name="Text 5"/>
          <p:cNvSpPr txBox="1"/>
          <p:nvPr/>
        </p:nvSpPr>
        <p:spPr>
          <a:xfrm>
            <a:off x="2834640" y="1417320"/>
            <a:ext cx="196596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(CC)</a:t>
            </a:r>
            <a:endParaRPr lang="en-US" sz="1300" dirty="0"/>
          </a:p>
        </p:txBody>
      </p:sp>
      <p:sp>
        <p:nvSpPr>
          <p:cNvPr id="8" name="Shape 6"/>
          <p:cNvSpPr/>
          <p:nvPr/>
        </p:nvSpPr>
        <p:spPr>
          <a:xfrm>
            <a:off x="4800600" y="1755648"/>
            <a:ext cx="320040" cy="0"/>
          </a:xfrm>
          <a:prstGeom prst="line">
            <a:avLst/>
          </a:prstGeom>
          <a:noFill/>
          <a:ln w="25400">
            <a:solidFill>
              <a:schemeClr val="accent5"/>
            </a:solidFill>
            <a:prstDash val="solid"/>
            <a:tailEnd type="triangle"/>
          </a:ln>
        </p:spPr>
      </p:sp>
      <p:sp>
        <p:nvSpPr>
          <p:cNvPr id="9" name="Shape 7"/>
          <p:cNvSpPr/>
          <p:nvPr/>
        </p:nvSpPr>
        <p:spPr>
          <a:xfrm>
            <a:off x="5120640" y="1417320"/>
            <a:ext cx="1965960" cy="685800"/>
          </a:xfrm>
          <a:prstGeom prst="roundRect">
            <a:avLst>
              <a:gd name="adj" fmla="val 16000"/>
            </a:avLst>
          </a:prstGeom>
          <a:solidFill>
            <a:schemeClr val="accent4"/>
          </a:solidFill>
          <a:ln/>
        </p:spPr>
      </p:sp>
      <p:sp>
        <p:nvSpPr>
          <p:cNvPr id="10" name="Text 8"/>
          <p:cNvSpPr txBox="1"/>
          <p:nvPr/>
        </p:nvSpPr>
        <p:spPr>
          <a:xfrm>
            <a:off x="5120640" y="1417320"/>
            <a:ext cx="196596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(CM,openRead,…)</a:t>
            </a:r>
            <a:endParaRPr lang="en-US" sz="1300" dirty="0"/>
          </a:p>
        </p:txBody>
      </p:sp>
      <p:sp>
        <p:nvSpPr>
          <p:cNvPr id="11" name="Shape 9"/>
          <p:cNvSpPr/>
          <p:nvPr/>
        </p:nvSpPr>
        <p:spPr>
          <a:xfrm>
            <a:off x="7086600" y="1755648"/>
            <a:ext cx="320040" cy="0"/>
          </a:xfrm>
          <a:prstGeom prst="line">
            <a:avLst/>
          </a:prstGeom>
          <a:noFill/>
          <a:ln w="25400">
            <a:solidFill>
              <a:schemeClr val="accent5"/>
            </a:solidFill>
            <a:prstDash val="solid"/>
            <a:tailEnd type="triangle"/>
          </a:ln>
        </p:spPr>
      </p:sp>
      <p:sp>
        <p:nvSpPr>
          <p:cNvPr id="12" name="Shape 10"/>
          <p:cNvSpPr/>
          <p:nvPr/>
        </p:nvSpPr>
        <p:spPr>
          <a:xfrm>
            <a:off x="7406640" y="1417320"/>
            <a:ext cx="1965960" cy="685800"/>
          </a:xfrm>
          <a:prstGeom prst="roundRect">
            <a:avLst>
              <a:gd name="adj" fmla="val 16000"/>
            </a:avLst>
          </a:prstGeom>
          <a:solidFill>
            <a:schemeClr val="tx1"/>
          </a:solidFill>
          <a:ln/>
        </p:spPr>
      </p:sp>
      <p:sp>
        <p:nvSpPr>
          <p:cNvPr id="13" name="Text 11"/>
          <p:cNvSpPr txBox="1"/>
          <p:nvPr/>
        </p:nvSpPr>
        <p:spPr>
          <a:xfrm>
            <a:off x="7406640" y="1417320"/>
            <a:ext cx="196596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(DP,…)</a:t>
            </a:r>
            <a:endParaRPr lang="en-US" sz="1300" dirty="0"/>
          </a:p>
        </p:txBody>
      </p:sp>
      <p:sp>
        <p:nvSpPr>
          <p:cNvPr id="14" name="Shape 12"/>
          <p:cNvSpPr/>
          <p:nvPr/>
        </p:nvSpPr>
        <p:spPr>
          <a:xfrm>
            <a:off x="9372600" y="1755648"/>
            <a:ext cx="320040" cy="0"/>
          </a:xfrm>
          <a:prstGeom prst="line">
            <a:avLst/>
          </a:prstGeom>
          <a:noFill/>
          <a:ln w="25400">
            <a:solidFill>
              <a:schemeClr val="accent5"/>
            </a:solidFill>
            <a:prstDash val="solid"/>
            <a:tailEnd type="triangle"/>
          </a:ln>
        </p:spPr>
      </p:sp>
      <p:sp>
        <p:nvSpPr>
          <p:cNvPr id="15" name="Shape 13"/>
          <p:cNvSpPr/>
          <p:nvPr/>
        </p:nvSpPr>
        <p:spPr>
          <a:xfrm>
            <a:off x="9692640" y="1417320"/>
            <a:ext cx="1965960" cy="685800"/>
          </a:xfrm>
          <a:prstGeom prst="roundRect">
            <a:avLst>
              <a:gd name="adj" fmla="val 16000"/>
            </a:avLst>
          </a:prstGeom>
          <a:solidFill>
            <a:schemeClr val="accent4"/>
          </a:solidFill>
          <a:ln/>
        </p:spPr>
      </p:sp>
      <p:sp>
        <p:nvSpPr>
          <p:cNvPr id="16" name="Text 14"/>
          <p:cNvSpPr txBox="1"/>
          <p:nvPr/>
        </p:nvSpPr>
        <p:spPr>
          <a:xfrm>
            <a:off x="9692640" y="1417320"/>
            <a:ext cx="196596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(End)</a:t>
            </a:r>
            <a:endParaRPr lang="en-US" sz="1300" dirty="0"/>
          </a:p>
        </p:txBody>
      </p:sp>
      <p:sp>
        <p:nvSpPr>
          <p:cNvPr id="17" name="Text 15"/>
          <p:cNvSpPr txBox="1"/>
          <p:nvPr/>
        </p:nvSpPr>
        <p:spPr>
          <a:xfrm>
            <a:off x="548640" y="2423160"/>
            <a:ext cx="5486400" cy="365760"/>
          </a:xfrm>
          <a:prstGeom prst="rect">
            <a:avLst/>
          </a:prstGeom>
          <a:noFill/>
          <a:ln/>
        </p:spPr>
        <p:txBody>
          <a:bodyPr wrap="square" lIns="0" tIns="0" rIns="0" bIns="0" rtlCol="0" anchor="ctr"/>
          <a:lstStyle/>
          <a:p>
            <a:pPr algn="l" indent="0" marL="0">
              <a:buNone/>
            </a:pPr>
            <a:r>
              <a:rPr lang="en-US" sz="1600" b="1" dirty="0">
                <a:solidFill>
                  <a:schemeClr val="tx1"/>
                </a:solidFill>
              </a:rPr>
              <a:t>Length header with htonl (300 bytes):</a:t>
            </a:r>
            <a:endParaRPr lang="en-US" sz="1600" dirty="0"/>
          </a:p>
        </p:txBody>
      </p:sp>
      <p:sp>
        <p:nvSpPr>
          <p:cNvPr id="18" name="Shape 16"/>
          <p:cNvSpPr/>
          <p:nvPr/>
        </p:nvSpPr>
        <p:spPr>
          <a:xfrm>
            <a:off x="548640" y="2834640"/>
            <a:ext cx="777240" cy="685800"/>
          </a:xfrm>
          <a:prstGeom prst="roundRect">
            <a:avLst>
              <a:gd name="adj" fmla="val 8000"/>
            </a:avLst>
          </a:prstGeom>
          <a:solidFill>
            <a:schemeClr val="accent2"/>
          </a:solidFill>
          <a:ln/>
        </p:spPr>
      </p:sp>
      <p:sp>
        <p:nvSpPr>
          <p:cNvPr id="19" name="Text 17"/>
          <p:cNvSpPr txBox="1"/>
          <p:nvPr/>
        </p:nvSpPr>
        <p:spPr>
          <a:xfrm>
            <a:off x="548640" y="2834640"/>
            <a:ext cx="777240" cy="685800"/>
          </a:xfrm>
          <a:prstGeom prst="rect">
            <a:avLst/>
          </a:prstGeom>
          <a:noFill/>
          <a:ln/>
        </p:spPr>
        <p:txBody>
          <a:bodyPr wrap="square" lIns="76200" tIns="76200" rIns="76200" bIns="7620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20" name="Shape 18"/>
          <p:cNvSpPr/>
          <p:nvPr/>
        </p:nvSpPr>
        <p:spPr>
          <a:xfrm>
            <a:off x="1463040" y="2834640"/>
            <a:ext cx="777240" cy="685800"/>
          </a:xfrm>
          <a:prstGeom prst="roundRect">
            <a:avLst>
              <a:gd name="adj" fmla="val 8000"/>
            </a:avLst>
          </a:prstGeom>
          <a:solidFill>
            <a:schemeClr val="accent2"/>
          </a:solidFill>
          <a:ln/>
        </p:spPr>
      </p:sp>
      <p:sp>
        <p:nvSpPr>
          <p:cNvPr id="21" name="Text 19"/>
          <p:cNvSpPr txBox="1"/>
          <p:nvPr/>
        </p:nvSpPr>
        <p:spPr>
          <a:xfrm>
            <a:off x="1463040" y="2834640"/>
            <a:ext cx="777240" cy="685800"/>
          </a:xfrm>
          <a:prstGeom prst="rect">
            <a:avLst/>
          </a:prstGeom>
          <a:noFill/>
          <a:ln/>
        </p:spPr>
        <p:txBody>
          <a:bodyPr wrap="square" lIns="76200" tIns="76200" rIns="76200" bIns="7620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22" name="Shape 20"/>
          <p:cNvSpPr/>
          <p:nvPr/>
        </p:nvSpPr>
        <p:spPr>
          <a:xfrm>
            <a:off x="2377440" y="2834640"/>
            <a:ext cx="777240" cy="685800"/>
          </a:xfrm>
          <a:prstGeom prst="roundRect">
            <a:avLst>
              <a:gd name="adj" fmla="val 8000"/>
            </a:avLst>
          </a:prstGeom>
          <a:solidFill>
            <a:schemeClr val="accent2"/>
          </a:solidFill>
          <a:ln/>
        </p:spPr>
      </p:sp>
      <p:sp>
        <p:nvSpPr>
          <p:cNvPr id="23" name="Text 21"/>
          <p:cNvSpPr txBox="1"/>
          <p:nvPr/>
        </p:nvSpPr>
        <p:spPr>
          <a:xfrm>
            <a:off x="2377440" y="2834640"/>
            <a:ext cx="777240" cy="685800"/>
          </a:xfrm>
          <a:prstGeom prst="rect">
            <a:avLst/>
          </a:prstGeom>
          <a:noFill/>
          <a:ln/>
        </p:spPr>
        <p:txBody>
          <a:bodyPr wrap="square" lIns="76200" tIns="76200" rIns="76200" bIns="7620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1</a:t>
            </a:r>
            <a:endParaRPr lang="en-US" sz="2000" dirty="0"/>
          </a:p>
        </p:txBody>
      </p:sp>
      <p:sp>
        <p:nvSpPr>
          <p:cNvPr id="24" name="Shape 22"/>
          <p:cNvSpPr/>
          <p:nvPr/>
        </p:nvSpPr>
        <p:spPr>
          <a:xfrm>
            <a:off x="3291840" y="2834640"/>
            <a:ext cx="777240" cy="685800"/>
          </a:xfrm>
          <a:prstGeom prst="roundRect">
            <a:avLst>
              <a:gd name="adj" fmla="val 8000"/>
            </a:avLst>
          </a:prstGeom>
          <a:solidFill>
            <a:schemeClr val="accent2"/>
          </a:solidFill>
          <a:ln/>
        </p:spPr>
      </p:sp>
      <p:sp>
        <p:nvSpPr>
          <p:cNvPr id="25" name="Text 23"/>
          <p:cNvSpPr txBox="1"/>
          <p:nvPr/>
        </p:nvSpPr>
        <p:spPr>
          <a:xfrm>
            <a:off x="3291840" y="2834640"/>
            <a:ext cx="777240" cy="685800"/>
          </a:xfrm>
          <a:prstGeom prst="rect">
            <a:avLst/>
          </a:prstGeom>
          <a:noFill/>
          <a:ln/>
        </p:spPr>
        <p:txBody>
          <a:bodyPr wrap="square" lIns="76200" tIns="76200" rIns="76200" bIns="7620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44</a:t>
            </a:r>
            <a:endParaRPr lang="en-US" sz="2000" dirty="0"/>
          </a:p>
        </p:txBody>
      </p:sp>
      <p:sp>
        <p:nvSpPr>
          <p:cNvPr id="26" name="Text 24"/>
          <p:cNvSpPr txBox="1"/>
          <p:nvPr/>
        </p:nvSpPr>
        <p:spPr>
          <a:xfrm>
            <a:off x="4206240" y="2834640"/>
            <a:ext cx="1920240" cy="685800"/>
          </a:xfrm>
          <a:prstGeom prst="rect">
            <a:avLst/>
          </a:prstGeom>
          <a:noFill/>
          <a:ln/>
        </p:spPr>
        <p:txBody>
          <a:bodyPr wrap="square" lIns="0" tIns="0" rIns="0" bIns="0" rtlCol="0" anchor="ctr"/>
          <a:lstStyle/>
          <a:p>
            <a:pPr algn="l" indent="0" marL="0">
              <a:buNone/>
            </a:pPr>
            <a:r>
              <a:rPr lang="en-US" sz="1400" b="1" dirty="0">
                <a:solidFill>
                  <a:schemeClr val="tx1"/>
                </a:solidFill>
                <a:latin typeface="Courier New" pitchFamily="34" charset="0"/>
                <a:ea typeface="Courier New" pitchFamily="34" charset="-122"/>
                <a:cs typeface="Courier New" pitchFamily="34" charset="-120"/>
              </a:rPr>
              <a:t>1×256+44 = 300</a:t>
            </a:r>
            <a:endParaRPr lang="en-US" sz="1400" dirty="0"/>
          </a:p>
        </p:txBody>
      </p:sp>
      <p:sp>
        <p:nvSpPr>
          <p:cNvPr id="27" name="Shape 25"/>
          <p:cNvSpPr/>
          <p:nvPr/>
        </p:nvSpPr>
        <p:spPr>
          <a:xfrm>
            <a:off x="548640" y="3886200"/>
            <a:ext cx="5486400" cy="1051560"/>
          </a:xfrm>
          <a:prstGeom prst="roundRect">
            <a:avLst>
              <a:gd name="adj" fmla="val 8696"/>
            </a:avLst>
          </a:prstGeom>
          <a:solidFill>
            <a:schemeClr val="tx2"/>
          </a:solidFill>
          <a:ln/>
        </p:spPr>
      </p:sp>
      <p:sp>
        <p:nvSpPr>
          <p:cNvPr id="28" name="Text 26"/>
          <p:cNvSpPr txBox="1"/>
          <p:nvPr/>
        </p:nvSpPr>
        <p:spPr>
          <a:xfrm>
            <a:off x="685800" y="3977640"/>
            <a:ext cx="5212080" cy="868680"/>
          </a:xfrm>
          <a:prstGeom prst="rect">
            <a:avLst/>
          </a:prstGeom>
          <a:noFill/>
          <a:ln/>
        </p:spPr>
        <p:txBody>
          <a:bodyPr wrap="square" lIns="0" tIns="0" rIns="0" bIns="0" rtlCol="0" anchor="t"/>
          <a:lstStyle/>
          <a:p>
            <a:pPr algn="l" indent="0" marL="0">
              <a:buNone/>
            </a:pPr>
            <a:r>
              <a:rPr lang="en-US" sz="1400" dirty="0">
                <a:solidFill>
                  <a:schemeClr val="bg1"/>
                </a:solidFill>
                <a:latin typeface="Courier New" pitchFamily="34" charset="0"/>
                <a:ea typeface="Courier New" pitchFamily="34" charset="-122"/>
                <a:cs typeface="Courier New" pitchFamily="34" charset="-120"/>
              </a:rPr>
              <a:t>uint32_t network_length = htonl(message_length);</a:t>
            </a:r>
            <a:endParaRPr lang="en-US" sz="1400" dirty="0"/>
          </a:p>
          <a:p>
            <a:pPr algn="l" indent="0" marL="0">
              <a:buNone/>
            </a:pPr>
            <a:r>
              <a:rPr lang="en-US" sz="1400" dirty="0">
                <a:solidFill>
                  <a:schemeClr val="bg1"/>
                </a:solidFill>
                <a:latin typeface="Courier New" pitchFamily="34" charset="0"/>
                <a:ea typeface="Courier New" pitchFamily="34" charset="-122"/>
                <a:cs typeface="Courier New" pitchFamily="34" charset="-120"/>
              </a:rPr>
              <a:t>/* big-endian, read back with ntohl() */</a:t>
            </a:r>
            <a:endParaRPr lang="en-US" sz="1400" dirty="0"/>
          </a:p>
        </p:txBody>
      </p:sp>
      <p:sp>
        <p:nvSpPr>
          <p:cNvPr id="29" name="Text 27"/>
          <p:cNvSpPr txBox="1"/>
          <p:nvPr/>
        </p:nvSpPr>
        <p:spPr>
          <a:xfrm>
            <a:off x="6400800" y="2423160"/>
            <a:ext cx="5212080" cy="365760"/>
          </a:xfrm>
          <a:prstGeom prst="rect">
            <a:avLst/>
          </a:prstGeom>
          <a:noFill/>
          <a:ln/>
        </p:spPr>
        <p:txBody>
          <a:bodyPr wrap="square" lIns="0" tIns="0" rIns="0" bIns="0" rtlCol="0" anchor="ctr"/>
          <a:lstStyle/>
          <a:p>
            <a:pPr algn="l" indent="0" marL="0">
              <a:buNone/>
            </a:pPr>
            <a:r>
              <a:rPr lang="en-US" sz="1600" b="1" dirty="0">
                <a:solidFill>
                  <a:schemeClr val="tx1"/>
                </a:solidFill>
              </a:rPr>
              <a:t>Server address, no struct:</a:t>
            </a:r>
            <a:endParaRPr lang="en-US" sz="1600" dirty="0"/>
          </a:p>
        </p:txBody>
      </p:sp>
      <p:sp>
        <p:nvSpPr>
          <p:cNvPr id="30" name="Shape 28"/>
          <p:cNvSpPr/>
          <p:nvPr/>
        </p:nvSpPr>
        <p:spPr>
          <a:xfrm>
            <a:off x="6400800" y="2834640"/>
            <a:ext cx="1188720" cy="685800"/>
          </a:xfrm>
          <a:prstGeom prst="roundRect">
            <a:avLst>
              <a:gd name="adj" fmla="val 8000"/>
            </a:avLst>
          </a:prstGeom>
          <a:solidFill>
            <a:schemeClr val="accent1"/>
          </a:solidFill>
          <a:ln/>
        </p:spPr>
      </p:sp>
      <p:sp>
        <p:nvSpPr>
          <p:cNvPr id="31" name="Text 29"/>
          <p:cNvSpPr txBox="1"/>
          <p:nvPr/>
        </p:nvSpPr>
        <p:spPr>
          <a:xfrm>
            <a:off x="6400800" y="2834640"/>
            <a:ext cx="118872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AF_INET</a:t>
            </a:r>
            <a:endParaRPr lang="en-US" sz="1300" dirty="0"/>
          </a:p>
        </p:txBody>
      </p:sp>
      <p:sp>
        <p:nvSpPr>
          <p:cNvPr id="32" name="Text 30"/>
          <p:cNvSpPr txBox="1"/>
          <p:nvPr/>
        </p:nvSpPr>
        <p:spPr>
          <a:xfrm>
            <a:off x="6400800" y="3566160"/>
            <a:ext cx="1188720" cy="274320"/>
          </a:xfrm>
          <a:prstGeom prst="rect">
            <a:avLst/>
          </a:prstGeom>
          <a:noFill/>
          <a:ln/>
        </p:spPr>
        <p:txBody>
          <a:bodyPr wrap="square" lIns="0" tIns="0" rIns="0" bIns="0" rtlCol="0" anchor="ctr"/>
          <a:lstStyle/>
          <a:p>
            <a:pPr algn="ctr" indent="0" marL="0">
              <a:buNone/>
            </a:pPr>
            <a:r>
              <a:rPr lang="en-US" sz="1100" dirty="0">
                <a:solidFill>
                  <a:schemeClr val="accent5"/>
                </a:solidFill>
              </a:rPr>
              <a:t>bytes 0-1</a:t>
            </a:r>
            <a:endParaRPr lang="en-US" sz="1100" dirty="0"/>
          </a:p>
        </p:txBody>
      </p:sp>
      <p:sp>
        <p:nvSpPr>
          <p:cNvPr id="33" name="Shape 31"/>
          <p:cNvSpPr/>
          <p:nvPr/>
        </p:nvSpPr>
        <p:spPr>
          <a:xfrm>
            <a:off x="7635240" y="2834640"/>
            <a:ext cx="1463040" cy="685800"/>
          </a:xfrm>
          <a:prstGeom prst="roundRect">
            <a:avLst>
              <a:gd name="adj" fmla="val 8000"/>
            </a:avLst>
          </a:prstGeom>
          <a:solidFill>
            <a:schemeClr val="accent4"/>
          </a:solidFill>
          <a:ln/>
        </p:spPr>
      </p:sp>
      <p:sp>
        <p:nvSpPr>
          <p:cNvPr id="34" name="Text 32"/>
          <p:cNvSpPr txBox="1"/>
          <p:nvPr/>
        </p:nvSpPr>
        <p:spPr>
          <a:xfrm>
            <a:off x="7635240" y="2834640"/>
            <a:ext cx="146304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htons(5050)</a:t>
            </a:r>
            <a:endParaRPr lang="en-US" sz="1300" dirty="0"/>
          </a:p>
        </p:txBody>
      </p:sp>
      <p:sp>
        <p:nvSpPr>
          <p:cNvPr id="35" name="Text 33"/>
          <p:cNvSpPr txBox="1"/>
          <p:nvPr/>
        </p:nvSpPr>
        <p:spPr>
          <a:xfrm>
            <a:off x="7635240" y="3566160"/>
            <a:ext cx="1463040" cy="274320"/>
          </a:xfrm>
          <a:prstGeom prst="rect">
            <a:avLst/>
          </a:prstGeom>
          <a:noFill/>
          <a:ln/>
        </p:spPr>
        <p:txBody>
          <a:bodyPr wrap="square" lIns="0" tIns="0" rIns="0" bIns="0" rtlCol="0" anchor="ctr"/>
          <a:lstStyle/>
          <a:p>
            <a:pPr algn="ctr" indent="0" marL="0">
              <a:buNone/>
            </a:pPr>
            <a:r>
              <a:rPr lang="en-US" sz="1100" dirty="0">
                <a:solidFill>
                  <a:schemeClr val="accent5"/>
                </a:solidFill>
              </a:rPr>
              <a:t>bytes 2-3</a:t>
            </a:r>
            <a:endParaRPr lang="en-US" sz="1100" dirty="0"/>
          </a:p>
        </p:txBody>
      </p:sp>
      <p:sp>
        <p:nvSpPr>
          <p:cNvPr id="36" name="Shape 34"/>
          <p:cNvSpPr/>
          <p:nvPr/>
        </p:nvSpPr>
        <p:spPr>
          <a:xfrm>
            <a:off x="9144000" y="2834640"/>
            <a:ext cx="1280160" cy="685800"/>
          </a:xfrm>
          <a:prstGeom prst="roundRect">
            <a:avLst>
              <a:gd name="adj" fmla="val 8000"/>
            </a:avLst>
          </a:prstGeom>
          <a:solidFill>
            <a:schemeClr val="accent2"/>
          </a:solidFill>
          <a:ln/>
        </p:spPr>
      </p:sp>
      <p:sp>
        <p:nvSpPr>
          <p:cNvPr id="37" name="Text 35"/>
          <p:cNvSpPr txBox="1"/>
          <p:nvPr/>
        </p:nvSpPr>
        <p:spPr>
          <a:xfrm>
            <a:off x="9144000" y="2834640"/>
            <a:ext cx="128016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IP bytes</a:t>
            </a:r>
            <a:endParaRPr lang="en-US" sz="1300" dirty="0"/>
          </a:p>
        </p:txBody>
      </p:sp>
      <p:sp>
        <p:nvSpPr>
          <p:cNvPr id="38" name="Text 36"/>
          <p:cNvSpPr txBox="1"/>
          <p:nvPr/>
        </p:nvSpPr>
        <p:spPr>
          <a:xfrm>
            <a:off x="9144000" y="3566160"/>
            <a:ext cx="1280160" cy="274320"/>
          </a:xfrm>
          <a:prstGeom prst="rect">
            <a:avLst/>
          </a:prstGeom>
          <a:noFill/>
          <a:ln/>
        </p:spPr>
        <p:txBody>
          <a:bodyPr wrap="square" lIns="0" tIns="0" rIns="0" bIns="0" rtlCol="0" anchor="ctr"/>
          <a:lstStyle/>
          <a:p>
            <a:pPr algn="ctr" indent="0" marL="0">
              <a:buNone/>
            </a:pPr>
            <a:r>
              <a:rPr lang="en-US" sz="1100" dirty="0">
                <a:solidFill>
                  <a:schemeClr val="accent5"/>
                </a:solidFill>
              </a:rPr>
              <a:t>bytes 4-7</a:t>
            </a:r>
            <a:endParaRPr lang="en-US" sz="1100" dirty="0"/>
          </a:p>
        </p:txBody>
      </p:sp>
      <p:sp>
        <p:nvSpPr>
          <p:cNvPr id="39" name="Shape 37"/>
          <p:cNvSpPr/>
          <p:nvPr/>
        </p:nvSpPr>
        <p:spPr>
          <a:xfrm>
            <a:off x="10469880" y="2834640"/>
            <a:ext cx="1005840" cy="685800"/>
          </a:xfrm>
          <a:prstGeom prst="roundRect">
            <a:avLst>
              <a:gd name="adj" fmla="val 8000"/>
            </a:avLst>
          </a:prstGeom>
          <a:solidFill>
            <a:schemeClr val="accent5"/>
          </a:solidFill>
          <a:ln/>
        </p:spPr>
      </p:sp>
      <p:sp>
        <p:nvSpPr>
          <p:cNvPr id="40" name="Text 38"/>
          <p:cNvSpPr txBox="1"/>
          <p:nvPr/>
        </p:nvSpPr>
        <p:spPr>
          <a:xfrm>
            <a:off x="10469880" y="2834640"/>
            <a:ext cx="100584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zeros</a:t>
            </a:r>
            <a:endParaRPr lang="en-US" sz="1300" dirty="0"/>
          </a:p>
        </p:txBody>
      </p:sp>
      <p:sp>
        <p:nvSpPr>
          <p:cNvPr id="41" name="Text 39"/>
          <p:cNvSpPr txBox="1"/>
          <p:nvPr/>
        </p:nvSpPr>
        <p:spPr>
          <a:xfrm>
            <a:off x="10469880" y="3566160"/>
            <a:ext cx="1005840" cy="274320"/>
          </a:xfrm>
          <a:prstGeom prst="rect">
            <a:avLst/>
          </a:prstGeom>
          <a:noFill/>
          <a:ln/>
        </p:spPr>
        <p:txBody>
          <a:bodyPr wrap="square" lIns="0" tIns="0" rIns="0" bIns="0" rtlCol="0" anchor="ctr"/>
          <a:lstStyle/>
          <a:p>
            <a:pPr algn="ctr" indent="0" marL="0">
              <a:buNone/>
            </a:pPr>
            <a:r>
              <a:rPr lang="en-US" sz="1100" dirty="0">
                <a:solidFill>
                  <a:schemeClr val="accent5"/>
                </a:solidFill>
              </a:rPr>
              <a:t>bytes 8-15</a:t>
            </a:r>
            <a:endParaRPr lang="en-US" sz="1100" dirty="0"/>
          </a:p>
        </p:txBody>
      </p:sp>
      <p:sp>
        <p:nvSpPr>
          <p:cNvPr id="42" name="Shape 40"/>
          <p:cNvSpPr/>
          <p:nvPr/>
        </p:nvSpPr>
        <p:spPr>
          <a:xfrm>
            <a:off x="6400800" y="3977640"/>
            <a:ext cx="5212080" cy="960120"/>
          </a:xfrm>
          <a:prstGeom prst="roundRect">
            <a:avLst>
              <a:gd name="adj" fmla="val 9524"/>
            </a:avLst>
          </a:prstGeom>
          <a:solidFill>
            <a:schemeClr val="tx2"/>
          </a:solidFill>
          <a:ln/>
        </p:spPr>
      </p:sp>
      <p:sp>
        <p:nvSpPr>
          <p:cNvPr id="43" name="Text 41"/>
          <p:cNvSpPr txBox="1"/>
          <p:nvPr/>
        </p:nvSpPr>
        <p:spPr>
          <a:xfrm>
            <a:off x="6537960" y="4069080"/>
            <a:ext cx="4937760" cy="777240"/>
          </a:xfrm>
          <a:prstGeom prst="rect">
            <a:avLst/>
          </a:prstGeom>
          <a:noFill/>
          <a:ln/>
        </p:spPr>
        <p:txBody>
          <a:bodyPr wrap="square" lIns="0" tIns="0" rIns="0" bIns="0" rtlCol="0" anchor="t"/>
          <a:lstStyle/>
          <a:p>
            <a:pPr algn="l" indent="0" marL="0">
              <a:buNone/>
            </a:pPr>
            <a:r>
              <a:rPr lang="en-US" sz="1300" dirty="0">
                <a:solidFill>
                  <a:schemeClr val="bg1"/>
                </a:solidFill>
                <a:latin typeface="Courier New" pitchFamily="34" charset="0"/>
                <a:ea typeface="Courier New" pitchFamily="34" charset="-122"/>
                <a:cs typeface="Courier New" pitchFamily="34" charset="-120"/>
              </a:rPr>
              <a:t>char server_address[16];</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unsigned short *family =</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(unsigned short *)server_address;</a:t>
            </a:r>
            <a:endParaRPr lang="en-US" sz="1300" dirty="0"/>
          </a:p>
        </p:txBody>
      </p:sp>
      <p:sp>
        <p:nvSpPr>
          <p:cNvPr id="44" name="Shape 42"/>
          <p:cNvSpPr/>
          <p:nvPr/>
        </p:nvSpPr>
        <p:spPr>
          <a:xfrm>
            <a:off x="548640" y="5257800"/>
            <a:ext cx="11064240" cy="868680"/>
          </a:xfrm>
          <a:prstGeom prst="roundRect">
            <a:avLst>
              <a:gd name="adj" fmla="val 12632"/>
            </a:avLst>
          </a:prstGeom>
          <a:solidFill>
            <a:schemeClr val="bg2"/>
          </a:solidFill>
          <a:ln/>
        </p:spPr>
      </p:sp>
      <p:sp>
        <p:nvSpPr>
          <p:cNvPr id="45" name="Text 43"/>
          <p:cNvSpPr txBox="1"/>
          <p:nvPr/>
        </p:nvSpPr>
        <p:spPr>
          <a:xfrm>
            <a:off x="548640" y="5257800"/>
            <a:ext cx="11064240" cy="868680"/>
          </a:xfrm>
          <a:prstGeom prst="rect">
            <a:avLst/>
          </a:prstGeom>
          <a:noFill/>
          <a:ln/>
        </p:spPr>
        <p:txBody>
          <a:bodyPr wrap="square" lIns="76200" tIns="76200" rIns="76200" bIns="76200" rtlCol="0" anchor="ctr"/>
          <a:lstStyle/>
          <a:p>
            <a:pPr algn="ctr" indent="0" marL="0">
              <a:buNone/>
            </a:pPr>
            <a:r>
              <a:rPr lang="en-US" sz="1500" dirty="0">
                <a:solidFill>
                  <a:schemeClr val="tx1"/>
                </a:solidFill>
              </a:rPr>
              <a:t>Base64 in C: 3 bytes → 4 characters with  &gt;&gt;  &lt;&lt;  &amp;  |   ·   test.txt  →  dGVzdC50eHQ=   ·   Unsecured, openRead only</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Live demo: every rubric item in 10 steps</a:t>
            </a:r>
            <a:endParaRPr lang="en-US" sz="3400" dirty="0"/>
          </a:p>
        </p:txBody>
      </p:sp>
      <p:sp>
        <p:nvSpPr>
          <p:cNvPr id="3" name="Shape 1"/>
          <p:cNvSpPr/>
          <p:nvPr/>
        </p:nvSpPr>
        <p:spPr>
          <a:xfrm>
            <a:off x="548640" y="1627632"/>
            <a:ext cx="548640" cy="548640"/>
          </a:xfrm>
          <a:prstGeom prst="ellipse">
            <a:avLst/>
          </a:prstGeom>
          <a:solidFill>
            <a:schemeClr val="accent1"/>
          </a:solidFill>
          <a:ln/>
        </p:spPr>
      </p:sp>
      <p:sp>
        <p:nvSpPr>
          <p:cNvPr id="4" name="Text 2"/>
          <p:cNvSpPr txBox="1"/>
          <p:nvPr/>
        </p:nvSpPr>
        <p:spPr>
          <a:xfrm>
            <a:off x="548640" y="162763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80160" y="1554480"/>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Start server: python3 ayham_server.py</a:t>
            </a:r>
            <a:endParaRPr lang="en-US" sz="1600" dirty="0"/>
          </a:p>
        </p:txBody>
      </p:sp>
      <p:sp>
        <p:nvSpPr>
          <p:cNvPr id="6" name="Shape 4"/>
          <p:cNvSpPr/>
          <p:nvPr/>
        </p:nvSpPr>
        <p:spPr>
          <a:xfrm>
            <a:off x="548640" y="2615184"/>
            <a:ext cx="548640" cy="548640"/>
          </a:xfrm>
          <a:prstGeom prst="ellipse">
            <a:avLst/>
          </a:prstGeom>
          <a:solidFill>
            <a:schemeClr val="accent4"/>
          </a:solidFill>
          <a:ln/>
        </p:spPr>
      </p:sp>
      <p:sp>
        <p:nvSpPr>
          <p:cNvPr id="7" name="Text 5"/>
          <p:cNvSpPr txBox="1"/>
          <p:nvPr/>
        </p:nvSpPr>
        <p:spPr>
          <a:xfrm>
            <a:off x="548640" y="2615184"/>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280160" y="2542032"/>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Client in AES mode: SS, CC, EC, SETUP_COMPLETE</a:t>
            </a:r>
            <a:endParaRPr lang="en-US" sz="1600" dirty="0"/>
          </a:p>
        </p:txBody>
      </p:sp>
      <p:sp>
        <p:nvSpPr>
          <p:cNvPr id="9" name="Shape 7"/>
          <p:cNvSpPr/>
          <p:nvPr/>
        </p:nvSpPr>
        <p:spPr>
          <a:xfrm>
            <a:off x="548640" y="3602736"/>
            <a:ext cx="548640" cy="548640"/>
          </a:xfrm>
          <a:prstGeom prst="ellipse">
            <a:avLst/>
          </a:prstGeom>
          <a:solidFill>
            <a:schemeClr val="accent1"/>
          </a:solidFill>
          <a:ln/>
        </p:spPr>
      </p:sp>
      <p:sp>
        <p:nvSpPr>
          <p:cNvPr id="10" name="Text 8"/>
          <p:cNvSpPr txBox="1"/>
          <p:nvPr/>
        </p:nvSpPr>
        <p:spPr>
          <a:xfrm>
            <a:off x="548640" y="3602736"/>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280160" y="3529584"/>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mkdir demo · cd demo · pwd · cd ..</a:t>
            </a:r>
            <a:endParaRPr lang="en-US" sz="1600" dirty="0"/>
          </a:p>
        </p:txBody>
      </p:sp>
      <p:sp>
        <p:nvSpPr>
          <p:cNvPr id="12" name="Shape 10"/>
          <p:cNvSpPr/>
          <p:nvPr/>
        </p:nvSpPr>
        <p:spPr>
          <a:xfrm>
            <a:off x="548640" y="4590288"/>
            <a:ext cx="548640" cy="548640"/>
          </a:xfrm>
          <a:prstGeom prst="ellipse">
            <a:avLst/>
          </a:prstGeom>
          <a:solidFill>
            <a:schemeClr val="accent4"/>
          </a:solidFill>
          <a:ln/>
        </p:spPr>
      </p:sp>
      <p:sp>
        <p:nvSpPr>
          <p:cNvPr id="13" name="Text 11"/>
          <p:cNvSpPr txBox="1"/>
          <p:nvPr/>
        </p:nvSpPr>
        <p:spPr>
          <a:xfrm>
            <a:off x="548640" y="459028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280160" y="4517136"/>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openWrite s.txt: type text, empty line ends</a:t>
            </a:r>
            <a:endParaRPr lang="en-US" sz="1600" dirty="0"/>
          </a:p>
        </p:txBody>
      </p:sp>
      <p:sp>
        <p:nvSpPr>
          <p:cNvPr id="15" name="Shape 13"/>
          <p:cNvSpPr/>
          <p:nvPr/>
        </p:nvSpPr>
        <p:spPr>
          <a:xfrm>
            <a:off x="548640" y="5577840"/>
            <a:ext cx="548640" cy="548640"/>
          </a:xfrm>
          <a:prstGeom prst="ellipse">
            <a:avLst/>
          </a:prstGeom>
          <a:solidFill>
            <a:schemeClr val="accent1"/>
          </a:solidFill>
          <a:ln/>
        </p:spPr>
      </p:sp>
      <p:sp>
        <p:nvSpPr>
          <p:cNvPr id="16" name="Text 14"/>
          <p:cNvSpPr txBox="1"/>
          <p:nvPr/>
        </p:nvSpPr>
        <p:spPr>
          <a:xfrm>
            <a:off x="548640" y="5577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1280160" y="5504688"/>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Read s.txt back (openRead)</a:t>
            </a:r>
            <a:endParaRPr lang="en-US" sz="1600" dirty="0"/>
          </a:p>
        </p:txBody>
      </p:sp>
      <p:sp>
        <p:nvSpPr>
          <p:cNvPr id="18" name="Shape 16"/>
          <p:cNvSpPr/>
          <p:nvPr/>
        </p:nvSpPr>
        <p:spPr>
          <a:xfrm>
            <a:off x="6217920" y="1627632"/>
            <a:ext cx="548640" cy="548640"/>
          </a:xfrm>
          <a:prstGeom prst="ellipse">
            <a:avLst/>
          </a:prstGeom>
          <a:solidFill>
            <a:schemeClr val="accent4"/>
          </a:solidFill>
          <a:ln/>
        </p:spPr>
      </p:sp>
      <p:sp>
        <p:nvSpPr>
          <p:cNvPr id="19" name="Text 17"/>
          <p:cNvSpPr txBox="1"/>
          <p:nvPr/>
        </p:nvSpPr>
        <p:spPr>
          <a:xfrm>
            <a:off x="6217920" y="162763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0" name="Text 18"/>
          <p:cNvSpPr txBox="1"/>
          <p:nvPr/>
        </p:nvSpPr>
        <p:spPr>
          <a:xfrm>
            <a:off x="6949440" y="1554480"/>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Read nofile.txt → Server error 2</a:t>
            </a:r>
            <a:endParaRPr lang="en-US" sz="1600" dirty="0"/>
          </a:p>
        </p:txBody>
      </p:sp>
      <p:sp>
        <p:nvSpPr>
          <p:cNvPr id="21" name="Shape 19"/>
          <p:cNvSpPr/>
          <p:nvPr/>
        </p:nvSpPr>
        <p:spPr>
          <a:xfrm>
            <a:off x="6217920" y="2615184"/>
            <a:ext cx="548640" cy="548640"/>
          </a:xfrm>
          <a:prstGeom prst="ellipse">
            <a:avLst/>
          </a:prstGeom>
          <a:solidFill>
            <a:schemeClr val="accent1"/>
          </a:solidFill>
          <a:ln/>
        </p:spPr>
      </p:sp>
      <p:sp>
        <p:nvSpPr>
          <p:cNvPr id="22" name="Text 20"/>
          <p:cNvSpPr txBox="1"/>
          <p:nvPr/>
        </p:nvSpPr>
        <p:spPr>
          <a:xfrm>
            <a:off x="6217920" y="2615184"/>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3" name="Text 21"/>
          <p:cNvSpPr txBox="1"/>
          <p:nvPr/>
        </p:nvSpPr>
        <p:spPr>
          <a:xfrm>
            <a:off x="6949440" y="2542032"/>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ren · rd · whoami · hostname · date</a:t>
            </a:r>
            <a:endParaRPr lang="en-US" sz="1600" dirty="0"/>
          </a:p>
        </p:txBody>
      </p:sp>
      <p:sp>
        <p:nvSpPr>
          <p:cNvPr id="24" name="Shape 22"/>
          <p:cNvSpPr/>
          <p:nvPr/>
        </p:nvSpPr>
        <p:spPr>
          <a:xfrm>
            <a:off x="6217920" y="3602736"/>
            <a:ext cx="548640" cy="548640"/>
          </a:xfrm>
          <a:prstGeom prst="ellipse">
            <a:avLst/>
          </a:prstGeom>
          <a:solidFill>
            <a:schemeClr val="accent4"/>
          </a:solidFill>
          <a:ln/>
        </p:spPr>
      </p:sp>
      <p:sp>
        <p:nvSpPr>
          <p:cNvPr id="25" name="Text 23"/>
          <p:cNvSpPr txBox="1"/>
          <p:nvPr/>
        </p:nvSpPr>
        <p:spPr>
          <a:xfrm>
            <a:off x="6217920" y="3602736"/>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26" name="Text 24"/>
          <p:cNvSpPr txBox="1"/>
          <p:nvPr/>
        </p:nvSpPr>
        <p:spPr>
          <a:xfrm>
            <a:off x="6949440" y="3529584"/>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Second client in CAESAR mode at once</a:t>
            </a:r>
            <a:endParaRPr lang="en-US" sz="1600" dirty="0"/>
          </a:p>
        </p:txBody>
      </p:sp>
      <p:sp>
        <p:nvSpPr>
          <p:cNvPr id="27" name="Shape 25"/>
          <p:cNvSpPr/>
          <p:nvPr/>
        </p:nvSpPr>
        <p:spPr>
          <a:xfrm>
            <a:off x="6217920" y="4590288"/>
            <a:ext cx="548640" cy="548640"/>
          </a:xfrm>
          <a:prstGeom prst="ellipse">
            <a:avLst/>
          </a:prstGeom>
          <a:solidFill>
            <a:schemeClr val="accent1"/>
          </a:solidFill>
          <a:ln/>
        </p:spPr>
      </p:sp>
      <p:sp>
        <p:nvSpPr>
          <p:cNvPr id="28" name="Text 26"/>
          <p:cNvSpPr txBox="1"/>
          <p:nvPr/>
        </p:nvSpPr>
        <p:spPr>
          <a:xfrm>
            <a:off x="6217920" y="459028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29" name="Text 27"/>
          <p:cNvSpPr txBox="1"/>
          <p:nvPr/>
        </p:nvSpPr>
        <p:spPr>
          <a:xfrm>
            <a:off x="6949440" y="4517136"/>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C client reads s.txt</a:t>
            </a:r>
            <a:endParaRPr lang="en-US" sz="1600" dirty="0"/>
          </a:p>
        </p:txBody>
      </p:sp>
      <p:sp>
        <p:nvSpPr>
          <p:cNvPr id="30" name="Shape 28"/>
          <p:cNvSpPr/>
          <p:nvPr/>
        </p:nvSpPr>
        <p:spPr>
          <a:xfrm>
            <a:off x="6217920" y="5577840"/>
            <a:ext cx="548640" cy="548640"/>
          </a:xfrm>
          <a:prstGeom prst="ellipse">
            <a:avLst/>
          </a:prstGeom>
          <a:solidFill>
            <a:schemeClr val="accent4"/>
          </a:solidFill>
          <a:ln/>
        </p:spPr>
      </p:sp>
      <p:sp>
        <p:nvSpPr>
          <p:cNvPr id="31" name="Text 29"/>
          <p:cNvSpPr txBox="1"/>
          <p:nvPr/>
        </p:nvSpPr>
        <p:spPr>
          <a:xfrm>
            <a:off x="6217920" y="5577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32" name="Text 30"/>
          <p:cNvSpPr txBox="1"/>
          <p:nvPr/>
        </p:nvSpPr>
        <p:spPr>
          <a:xfrm>
            <a:off x="6949440" y="5504688"/>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End → (SC,BYE), server keeps running</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10698480" cy="2011680"/>
          </a:xfrm>
          <a:prstGeom prst="rect">
            <a:avLst/>
          </a:prstGeom>
          <a:noFill/>
          <a:ln/>
        </p:spPr>
        <p:txBody>
          <a:bodyPr wrap="square" lIns="0" tIns="0" rIns="0" bIns="0" rtlCol="0" anchor="b"/>
          <a:lstStyle/>
          <a:p>
            <a:pPr algn="l" indent="0" marL="0">
              <a:buNone/>
            </a:pPr>
            <a:r>
              <a:rPr lang="en-US" sz="4800" b="1" dirty="0">
                <a:solidFill>
                  <a:schemeClr val="bg1"/>
                </a:solidFill>
              </a:rPr>
              <a:t>Questions?</a:t>
            </a:r>
            <a:endParaRPr lang="en-US" sz="4800" dirty="0"/>
          </a:p>
        </p:txBody>
      </p:sp>
      <p:sp>
        <p:nvSpPr>
          <p:cNvPr id="3" name="Text 0"/>
          <p:cNvSpPr/>
          <p:nvPr>
            <p:ph idx="101" type="body" hasCustomPrompt="1"/>
          </p:nvPr>
        </p:nvSpPr>
        <p:spPr>
          <a:xfrm>
            <a:off x="731520" y="3429000"/>
            <a:ext cx="10698480" cy="914400"/>
          </a:xfrm>
          <a:prstGeom prst="rect">
            <a:avLst/>
          </a:prstGeom>
          <a:noFill/>
          <a:ln/>
        </p:spPr>
        <p:txBody>
          <a:bodyPr wrap="square" lIns="0" tIns="0" rIns="0" bIns="0" rtlCol="0" anchor="t"/>
          <a:lstStyle/>
          <a:p>
            <a:pPr algn="l" indent="0" marL="0">
              <a:buNone/>
            </a:pPr>
            <a:r>
              <a:rPr lang="en-US" sz="2200" dirty="0">
                <a:solidFill>
                  <a:schemeClr val="accent1"/>
                </a:solidFill>
              </a:rPr>
              <a:t>Hybrid encryption · Multithreaded server · One protocol, two languages</a:t>
            </a:r>
            <a:endParaRPr lang="en-US" sz="2200" dirty="0"/>
          </a:p>
        </p:txBody>
      </p:sp>
      <p:sp>
        <p:nvSpPr>
          <p:cNvPr id="4" name="Shape 2"/>
          <p:cNvSpPr/>
          <p:nvPr/>
        </p:nvSpPr>
        <p:spPr>
          <a:xfrm>
            <a:off x="731520" y="5120640"/>
            <a:ext cx="2514600" cy="731520"/>
          </a:xfrm>
          <a:prstGeom prst="roundRect">
            <a:avLst>
              <a:gd name="adj" fmla="val 15000"/>
            </a:avLst>
          </a:prstGeom>
          <a:solidFill>
            <a:schemeClr val="accent6"/>
          </a:solidFill>
          <a:ln/>
        </p:spPr>
      </p:sp>
      <p:sp>
        <p:nvSpPr>
          <p:cNvPr id="5" name="Text 3"/>
          <p:cNvSpPr txBox="1"/>
          <p:nvPr/>
        </p:nvSpPr>
        <p:spPr>
          <a:xfrm>
            <a:off x="731520" y="5120640"/>
            <a:ext cx="2514600" cy="731520"/>
          </a:xfrm>
          <a:prstGeom prst="rect">
            <a:avLst/>
          </a:prstGeom>
          <a:noFill/>
          <a:ln/>
        </p:spPr>
        <p:txBody>
          <a:bodyPr wrap="square" lIns="76200" tIns="76200" rIns="76200" bIns="76200" rtlCol="0" anchor="ctr"/>
          <a:lstStyle/>
          <a:p>
            <a:pPr algn="ctr" indent="0" marL="0">
              <a:buNone/>
            </a:pPr>
            <a:r>
              <a:rPr lang="en-US" sz="1400" dirty="0">
                <a:solidFill>
                  <a:schemeClr val="bg1"/>
                </a:solidFill>
              </a:rPr>
              <a:t>RSA once</a:t>
            </a:r>
            <a:endParaRPr lang="en-US" sz="1400" dirty="0"/>
          </a:p>
        </p:txBody>
      </p:sp>
      <p:sp>
        <p:nvSpPr>
          <p:cNvPr id="6" name="Shape 4"/>
          <p:cNvSpPr/>
          <p:nvPr/>
        </p:nvSpPr>
        <p:spPr>
          <a:xfrm>
            <a:off x="3429000" y="5120640"/>
            <a:ext cx="2514600" cy="731520"/>
          </a:xfrm>
          <a:prstGeom prst="roundRect">
            <a:avLst>
              <a:gd name="adj" fmla="val 15000"/>
            </a:avLst>
          </a:prstGeom>
          <a:solidFill>
            <a:schemeClr val="accent6"/>
          </a:solidFill>
          <a:ln/>
        </p:spPr>
      </p:sp>
      <p:sp>
        <p:nvSpPr>
          <p:cNvPr id="7" name="Text 5"/>
          <p:cNvSpPr txBox="1"/>
          <p:nvPr/>
        </p:nvSpPr>
        <p:spPr>
          <a:xfrm>
            <a:off x="3429000" y="5120640"/>
            <a:ext cx="2514600" cy="731520"/>
          </a:xfrm>
          <a:prstGeom prst="rect">
            <a:avLst/>
          </a:prstGeom>
          <a:noFill/>
          <a:ln/>
        </p:spPr>
        <p:txBody>
          <a:bodyPr wrap="square" lIns="76200" tIns="76200" rIns="76200" bIns="76200" rtlCol="0" anchor="ctr"/>
          <a:lstStyle/>
          <a:p>
            <a:pPr algn="ctr" indent="0" marL="0">
              <a:buNone/>
            </a:pPr>
            <a:r>
              <a:rPr lang="en-US" sz="1400" dirty="0">
                <a:solidFill>
                  <a:schemeClr val="bg1"/>
                </a:solidFill>
              </a:rPr>
              <a:t>AES / Caesar on every file</a:t>
            </a:r>
            <a:endParaRPr lang="en-US" sz="1400" dirty="0"/>
          </a:p>
        </p:txBody>
      </p:sp>
      <p:sp>
        <p:nvSpPr>
          <p:cNvPr id="8" name="Shape 6"/>
          <p:cNvSpPr/>
          <p:nvPr/>
        </p:nvSpPr>
        <p:spPr>
          <a:xfrm>
            <a:off x="6126480" y="5120640"/>
            <a:ext cx="2514600" cy="731520"/>
          </a:xfrm>
          <a:prstGeom prst="roundRect">
            <a:avLst>
              <a:gd name="adj" fmla="val 15000"/>
            </a:avLst>
          </a:prstGeom>
          <a:solidFill>
            <a:schemeClr val="accent6"/>
          </a:solidFill>
          <a:ln/>
        </p:spPr>
      </p:sp>
      <p:sp>
        <p:nvSpPr>
          <p:cNvPr id="9" name="Text 7"/>
          <p:cNvSpPr txBox="1"/>
          <p:nvPr/>
        </p:nvSpPr>
        <p:spPr>
          <a:xfrm>
            <a:off x="6126480" y="5120640"/>
            <a:ext cx="2514600" cy="731520"/>
          </a:xfrm>
          <a:prstGeom prst="rect">
            <a:avLst/>
          </a:prstGeom>
          <a:noFill/>
          <a:ln/>
        </p:spPr>
        <p:txBody>
          <a:bodyPr wrap="square" lIns="76200" tIns="76200" rIns="76200" bIns="76200" rtlCol="0" anchor="ctr"/>
          <a:lstStyle/>
          <a:p>
            <a:pPr algn="ctr" indent="0" marL="0">
              <a:buNone/>
            </a:pPr>
            <a:r>
              <a:rPr lang="en-US" sz="1400" dirty="0">
                <a:solidFill>
                  <a:schemeClr val="bg1"/>
                </a:solidFill>
              </a:rPr>
              <a:t>Thread + session per client</a:t>
            </a:r>
            <a:endParaRPr lang="en-US" sz="1400" dirty="0"/>
          </a:p>
        </p:txBody>
      </p:sp>
      <p:sp>
        <p:nvSpPr>
          <p:cNvPr id="10" name="Shape 8"/>
          <p:cNvSpPr/>
          <p:nvPr/>
        </p:nvSpPr>
        <p:spPr>
          <a:xfrm>
            <a:off x="8823960" y="5120640"/>
            <a:ext cx="2514600" cy="731520"/>
          </a:xfrm>
          <a:prstGeom prst="roundRect">
            <a:avLst>
              <a:gd name="adj" fmla="val 15000"/>
            </a:avLst>
          </a:prstGeom>
          <a:solidFill>
            <a:schemeClr val="accent6"/>
          </a:solidFill>
          <a:ln/>
        </p:spPr>
      </p:sp>
      <p:sp>
        <p:nvSpPr>
          <p:cNvPr id="11" name="Text 9"/>
          <p:cNvSpPr txBox="1"/>
          <p:nvPr/>
        </p:nvSpPr>
        <p:spPr>
          <a:xfrm>
            <a:off x="8823960" y="5120640"/>
            <a:ext cx="2514600" cy="731520"/>
          </a:xfrm>
          <a:prstGeom prst="rect">
            <a:avLst/>
          </a:prstGeom>
          <a:noFill/>
          <a:ln/>
        </p:spPr>
        <p:txBody>
          <a:bodyPr wrap="square" lIns="76200" tIns="76200" rIns="76200" bIns="76200" rtlCol="0" anchor="ctr"/>
          <a:lstStyle/>
          <a:p>
            <a:pPr algn="ctr" indent="0" marL="0">
              <a:buNone/>
            </a:pPr>
            <a:r>
              <a:rPr lang="en-US" sz="1400" dirty="0">
                <a:solidFill>
                  <a:schemeClr val="bg1"/>
                </a:solidFill>
              </a:rPr>
              <a:t>C and Python, same packets</a:t>
            </a:r>
            <a:endParaRPr lang="en-US" sz="1400" dirty="0"/>
          </a:p>
        </p:txBody>
      </p:sp>
    </p:spTree>
  </p:cSld>
  <p:clrMapOvr>
    <a:masterClrMapping/>
  </p:clrMapOvr>
</p:sld>
</file>

<file path=ppt/theme/theme1.xml><?xml version="1.0" encoding="utf-8"?>
<a:theme xmlns:a="http://schemas.openxmlformats.org/drawingml/2006/main" name="RFMP Secure Network">
  <a:themeElements>
    <a:clrScheme name="RFMP Secure Network">
      <a:dk1>
        <a:srgbClr val="13293D"/>
      </a:dk1>
      <a:lt1>
        <a:srgbClr val="FFFFFF"/>
      </a:lt1>
      <a:dk2>
        <a:srgbClr val="0B1B2B"/>
      </a:dk2>
      <a:lt2>
        <a:srgbClr val="EEF3F7"/>
      </a:lt2>
      <a:accent1>
        <a:srgbClr val="1B998B"/>
      </a:accent1>
      <a:accent2>
        <a:srgbClr val="F4A259"/>
      </a:accent2>
      <a:accent3>
        <a:srgbClr val="E15A5A"/>
      </a:accent3>
      <a:accent4>
        <a:srgbClr val="3E7CB1"/>
      </a:accent4>
      <a:accent5>
        <a:srgbClr val="8AA1B1"/>
      </a:accent5>
      <a:accent6>
        <a:srgbClr val="2E4A62"/>
      </a:accent6>
      <a:hlink>
        <a:srgbClr val="3E7CB1"/>
      </a:hlink>
      <a:folHlink>
        <a:srgbClr val="8AA1B1"/>
      </a:folHlink>
    </a:clrScheme>
    <a:fontScheme name="RFMP Secure Netwo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RFMP - Remote File Management Protocol</dc:title>
  <dc:subject>PptxGenJS Presentation</dc:subject>
  <dc:creator>CSEC-201 Team</dc:creator>
  <cp:lastModifiedBy>CSEC-201 Team</cp:lastModifiedBy>
  <cp:revision>1</cp:revision>
  <dcterms:created xsi:type="dcterms:W3CDTF">2026-10-06T19:59:58Z</dcterms:created>
  <dcterms:modified xsi:type="dcterms:W3CDTF">2026-10-06T19:59:58Z</dcterms:modified>
</cp:coreProperties>
</file>